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telling them what they are looking at: this is a real screenshot from the game, not a mock-up. One line pitch: "We put the trainee inside the warehouse, instead of showing them slides about it." Then move quickly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60 to 90 seconds. The one line that lands is the italic sentence at the bottom: passing the quiz and being safe on the floor are two different things. Ask the room: how would you test whether someone would notice a hazard? That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pitch slide. Emphasise "no install, no headset" — it runs on the laptops the client already has. The image on the right is the pedestrian walkway with workers and a forklift; point at it while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deck — it is the whole design philosophy in one comparison. Spend time here. Invite them to look at the screenshot and find the bad pallet themselves; that moment of searching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fifteen aloud. Say "these are the fifteen the client specified, and every one is built as geometry you can walk up to." Then pick two examples — falling boxes and blind corner — and describe how they are staged. Major hazards are red; they score three times what a minor one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differentiates us from a click-the-hotspot trainer, and clients respond to it. Line to use: "we teach them what good looks like, not just what bad looks like." Note that decoy count rises with difficulty — 0 on Simple, 12 on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gate: you cannot be tested on a site you have not been trained on. That mirrors how a real site induction works, and clients recognise it. The five-step flow at the bottom is the Test Mode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difficulty is not a number we multiply the score by. Eight separate things change, including the lighting in the building. The background image IS Hard difficulty — that is what the trainee actually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a selling point for the client: their safety officer can change the thresholds, the timings and the point values themselves. Mention that the results screen also gives written coaching based on how they actually played — for example, "you missed 3 major hazards; those are the ones that 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the commercial point: adding a new site is cheap because the hazard library is shared. If the client asks "could you build OUR warehouse?" — yes, and this is why that is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classroom audience, the 9,587 → 994 number is the strongest technical story: a real problem, measured, and solved with a specific technique. For a client audience, the three green rows on the left matter more — it means every hazard is genuinely reachable, verified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and do not apologise through it. Presenting limitations confidently is what makes the rest of the claims credible — especially in front of a client. If asked "why no VR?", the answer is: we had no headset to test on, and untested VR is worse than no VR.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offline point is a genuine client benefit — say it plainly. Warehouse floors have bad wifi and slow IT approval; a single file that runs from a USB stick sidesteps both. If you are demoing live, this is the moment to switch to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column is the one the client cares about. If there is appetite in the room, the natural next step to propose is building their own site as environment four — and slide 10 already explained why that is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demo, not on the slide. Have the game already loaded in another window so you can switch instantly. Suggested demo order: (1) walk the main hall, (2) find the falling boxes, (3) flag a decoy on purpose so they see the game teach, (4) show the results screen. Keep it under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27"/>
        </a:solidFill>
      </p:bgPr>
    </p:bg>
    <p:spTree>
      <p:nvGrpSpPr>
        <p:cNvPr id="1" name=""/>
        <p:cNvGrpSpPr/>
        <p:nvPr/>
      </p:nvGrpSpPr>
      <p:grpSpPr>
        <a:xfrm>
          <a:off x="0" y="0"/>
          <a:ext cx="0" cy="0"/>
          <a:chOff x="0" y="0"/>
          <a:chExt cx="0" cy="0"/>
        </a:xfrm>
      </p:grpSpPr>
      <p:pic>
        <p:nvPicPr>
          <p:cNvPr id="2" name="Image 0" descr="C:\Users\acer\Desktop\interprize_project\ppt\shots\opt\env01_wid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81C">
              <a:alpha val="70000"/>
            </a:srgbClr>
          </a:solidFill>
          <a:ln/>
        </p:spPr>
      </p:sp>
      <p:sp>
        <p:nvSpPr>
          <p:cNvPr id="4" name="Text 1"/>
          <p:cNvSpPr txBox="1"/>
          <p:nvPr/>
        </p:nvSpPr>
        <p:spPr>
          <a:xfrm>
            <a:off x="640080" y="2057400"/>
            <a:ext cx="10911535" cy="1143000"/>
          </a:xfrm>
          <a:prstGeom prst="rect">
            <a:avLst/>
          </a:prstGeom>
          <a:noFill/>
          <a:ln/>
        </p:spPr>
        <p:txBody>
          <a:bodyPr wrap="square" lIns="0" tIns="0" rIns="0" bIns="0" rtlCol="0" anchor="ctr"/>
          <a:lstStyle/>
          <a:p>
            <a:pPr algn="l" indent="0" marL="0">
              <a:buNone/>
            </a:pPr>
            <a:r>
              <a:rPr lang="en-US" sz="6000" b="1" dirty="0">
                <a:solidFill>
                  <a:srgbClr val="F2B90C"/>
                </a:solidFill>
                <a:latin typeface="Arial" pitchFamily="34" charset="0"/>
                <a:ea typeface="Arial" pitchFamily="34" charset="-122"/>
                <a:cs typeface="Arial" pitchFamily="34" charset="-120"/>
              </a:rPr>
              <a:t>BEAT THE HAZARD</a:t>
            </a:r>
            <a:endParaRPr lang="en-US" sz="6000" dirty="0"/>
          </a:p>
        </p:txBody>
      </p:sp>
      <p:sp>
        <p:nvSpPr>
          <p:cNvPr id="5" name="Text 2"/>
          <p:cNvSpPr txBox="1"/>
          <p:nvPr/>
        </p:nvSpPr>
        <p:spPr>
          <a:xfrm>
            <a:off x="640080" y="3291840"/>
            <a:ext cx="7863840" cy="914400"/>
          </a:xfrm>
          <a:prstGeom prst="rect">
            <a:avLst/>
          </a:prstGeom>
          <a:noFill/>
          <a:ln/>
        </p:spPr>
        <p:txBody>
          <a:bodyPr wrap="square" lIns="0" tIns="0" rIns="0" bIns="0" rtlCol="0" anchor="t"/>
          <a:lstStyle/>
          <a:p>
            <a:pPr algn="l" indent="0" marL="0">
              <a:lnSpc>
                <a:spcPct val="125000"/>
              </a:lnSpc>
              <a:buNone/>
            </a:pPr>
            <a:r>
              <a:rPr lang="en-US" sz="2000" dirty="0">
                <a:solidFill>
                  <a:srgbClr val="FFFFFF"/>
                </a:solidFill>
                <a:latin typeface="Calibri" pitchFamily="34" charset="0"/>
                <a:ea typeface="Calibri" pitchFamily="34" charset="-122"/>
                <a:cs typeface="Calibri" pitchFamily="34" charset="-120"/>
              </a:rPr>
              <a:t>A 3D interactive health &amp; safety training game for</a:t>
            </a:r>
            <a:endParaRPr lang="en-US" sz="2000" dirty="0"/>
          </a:p>
          <a:p>
            <a:pPr algn="l" indent="0" marL="0">
              <a:lnSpc>
                <a:spcPct val="125000"/>
              </a:lnSpc>
              <a:buNone/>
            </a:pPr>
            <a:r>
              <a:rPr lang="en-US" sz="2000" dirty="0">
                <a:solidFill>
                  <a:srgbClr val="FFFFFF"/>
                </a:solidFill>
                <a:latin typeface="Calibri" pitchFamily="34" charset="0"/>
                <a:ea typeface="Calibri" pitchFamily="34" charset="-122"/>
                <a:cs typeface="Calibri" pitchFamily="34" charset="-120"/>
              </a:rPr>
              <a:t>warehouse forklift and pedestrian safety</a:t>
            </a:r>
            <a:endParaRPr lang="en-US" sz="2000" dirty="0"/>
          </a:p>
        </p:txBody>
      </p:sp>
      <p:sp>
        <p:nvSpPr>
          <p:cNvPr id="6" name="Shape 3"/>
          <p:cNvSpPr/>
          <p:nvPr/>
        </p:nvSpPr>
        <p:spPr>
          <a:xfrm>
            <a:off x="640080" y="4526280"/>
            <a:ext cx="1371600" cy="32004"/>
          </a:xfrm>
          <a:prstGeom prst="rect">
            <a:avLst/>
          </a:prstGeom>
          <a:solidFill>
            <a:srgbClr val="F2B90C"/>
          </a:solidFill>
          <a:ln/>
        </p:spPr>
      </p:sp>
      <p:sp>
        <p:nvSpPr>
          <p:cNvPr id="7" name="Text 4"/>
          <p:cNvSpPr txBox="1"/>
          <p:nvPr/>
        </p:nvSpPr>
        <p:spPr>
          <a:xfrm>
            <a:off x="640080" y="4754880"/>
            <a:ext cx="7315200" cy="320040"/>
          </a:xfrm>
          <a:prstGeom prst="rect">
            <a:avLst/>
          </a:prstGeom>
          <a:noFill/>
          <a:ln/>
        </p:spPr>
        <p:txBody>
          <a:bodyPr wrap="square" lIns="0" tIns="0" rIns="0" bIns="0" rtlCol="0" anchor="ctr"/>
          <a:lstStyle/>
          <a:p>
            <a:pPr algn="l" indent="0" marL="0">
              <a:buNone/>
            </a:pPr>
            <a:r>
              <a:rPr lang="en-US" sz="1400" dirty="0">
                <a:solidFill>
                  <a:srgbClr val="A8B2BB"/>
                </a:solidFill>
                <a:latin typeface="Calibri" pitchFamily="34" charset="0"/>
                <a:ea typeface="Calibri" pitchFamily="34" charset="-122"/>
                <a:cs typeface="Calibri" pitchFamily="34" charset="-120"/>
              </a:rPr>
              <a:t>Himalaya Logistics Distribution Centre  ·  Birgunj, Nepal</a:t>
            </a:r>
            <a:endParaRPr lang="en-US" sz="1400" dirty="0"/>
          </a:p>
        </p:txBody>
      </p:sp>
      <p:sp>
        <p:nvSpPr>
          <p:cNvPr id="8" name="Text 5"/>
          <p:cNvSpPr txBox="1"/>
          <p:nvPr/>
        </p:nvSpPr>
        <p:spPr>
          <a:xfrm>
            <a:off x="640080" y="5943600"/>
            <a:ext cx="5486400" cy="3200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Kushal Neupane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640080" y="676656"/>
            <a:ext cx="10911535" cy="1143000"/>
          </a:xfrm>
          <a:prstGeom prst="rect">
            <a:avLst/>
          </a:prstGeom>
          <a:noFill/>
          <a:ln/>
        </p:spPr>
        <p:txBody>
          <a:bodyPr wrap="square" lIns="0" tIns="0" rIns="0" bIns="0" rtlCol="0" anchor="ctr"/>
          <a:lstStyle/>
          <a:p>
            <a:pPr algn="l" indent="0" marL="0">
              <a:buNone/>
            </a:pPr>
            <a:r>
              <a:rPr lang="en-US" sz="3000" b="1" dirty="0">
                <a:solidFill>
                  <a:srgbClr val="14181C"/>
                </a:solidFill>
                <a:latin typeface="Arial" pitchFamily="34" charset="0"/>
                <a:ea typeface="Arial" pitchFamily="34" charset="-122"/>
                <a:cs typeface="Arial" pitchFamily="34" charset="-120"/>
              </a:rPr>
              <a:t>Safety training tests recall.</a:t>
            </a:r>
            <a:endParaRPr lang="en-US" sz="3000" dirty="0"/>
          </a:p>
          <a:p>
            <a:pPr algn="l" indent="0" marL="0">
              <a:buNone/>
            </a:pPr>
            <a:r>
              <a:rPr lang="en-US" sz="3000" b="1" dirty="0">
                <a:solidFill>
                  <a:srgbClr val="14181C"/>
                </a:solidFill>
                <a:latin typeface="Arial" pitchFamily="34" charset="0"/>
                <a:ea typeface="Arial" pitchFamily="34" charset="-122"/>
                <a:cs typeface="Arial" pitchFamily="34" charset="-120"/>
              </a:rPr>
              <a:t>The job needs noticing.</a:t>
            </a:r>
            <a:endParaRPr lang="en-US" sz="3000" dirty="0"/>
          </a:p>
        </p:txBody>
      </p:sp>
      <p:sp>
        <p:nvSpPr>
          <p:cNvPr id="4" name="Shape 2"/>
          <p:cNvSpPr/>
          <p:nvPr/>
        </p:nvSpPr>
        <p:spPr>
          <a:xfrm>
            <a:off x="640080" y="2148840"/>
            <a:ext cx="3484778" cy="2286000"/>
          </a:xfrm>
          <a:prstGeom prst="roundRect">
            <a:avLst>
              <a:gd name="adj" fmla="val 3200"/>
            </a:avLst>
          </a:prstGeom>
          <a:solidFill>
            <a:srgbClr val="F1F3F5"/>
          </a:solidFill>
          <a:ln/>
          <a:effectLst>
            <a:outerShdw sx="100000" sy="100000" kx="0" ky="0" algn="bl" rotWithShape="0" blurRad="101600" dist="508" dir="5400000">
              <a:srgbClr val="000000">
                <a:alpha val="10000"/>
              </a:srgbClr>
            </a:outerShdw>
          </a:effectLst>
        </p:spPr>
      </p:sp>
      <p:sp>
        <p:nvSpPr>
          <p:cNvPr id="5" name="Shape 3"/>
          <p:cNvSpPr/>
          <p:nvPr/>
        </p:nvSpPr>
        <p:spPr>
          <a:xfrm>
            <a:off x="960120" y="2468880"/>
            <a:ext cx="402336" cy="402336"/>
          </a:xfrm>
          <a:prstGeom prst="ellipse">
            <a:avLst/>
          </a:prstGeom>
          <a:solidFill>
            <a:srgbClr val="F2B90C"/>
          </a:solidFill>
          <a:ln/>
        </p:spPr>
      </p:sp>
      <p:sp>
        <p:nvSpPr>
          <p:cNvPr id="6" name="Text 4"/>
          <p:cNvSpPr txBox="1"/>
          <p:nvPr/>
        </p:nvSpPr>
        <p:spPr>
          <a:xfrm>
            <a:off x="960120" y="2468880"/>
            <a:ext cx="402336" cy="402336"/>
          </a:xfrm>
          <a:prstGeom prst="rect">
            <a:avLst/>
          </a:prstGeom>
          <a:noFill/>
          <a:ln/>
        </p:spPr>
        <p:txBody>
          <a:bodyPr wrap="square" lIns="0" tIns="0" rIns="0" bIns="0" rtlCol="0" anchor="ctr"/>
          <a:lstStyle/>
          <a:p>
            <a:pPr algn="ctr" indent="0" marL="0">
              <a:buNone/>
            </a:pPr>
            <a:r>
              <a:rPr lang="en-US" sz="1400" b="1" dirty="0">
                <a:solidFill>
                  <a:srgbClr val="14181C"/>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60120" y="3017520"/>
            <a:ext cx="2844698" cy="365760"/>
          </a:xfrm>
          <a:prstGeom prst="rect">
            <a:avLst/>
          </a:prstGeom>
          <a:noFill/>
          <a:ln/>
        </p:spPr>
        <p:txBody>
          <a:bodyPr wrap="square" lIns="0" tIns="0" rIns="0" bIns="0" rtlCol="0" anchor="t"/>
          <a:lstStyle/>
          <a:p>
            <a:pPr indent="0" marL="0">
              <a:buNone/>
            </a:pPr>
            <a:r>
              <a:rPr lang="en-US" sz="1500" b="1" dirty="0">
                <a:solidFill>
                  <a:srgbClr val="14181C"/>
                </a:solidFill>
                <a:latin typeface="Arial" pitchFamily="34" charset="0"/>
                <a:ea typeface="Arial" pitchFamily="34" charset="-122"/>
                <a:cs typeface="Arial" pitchFamily="34" charset="-120"/>
              </a:rPr>
              <a:t>Slides, then a quiz</a:t>
            </a:r>
            <a:endParaRPr lang="en-US" sz="1500" dirty="0"/>
          </a:p>
        </p:txBody>
      </p:sp>
      <p:sp>
        <p:nvSpPr>
          <p:cNvPr id="8" name="Text 6"/>
          <p:cNvSpPr txBox="1"/>
          <p:nvPr/>
        </p:nvSpPr>
        <p:spPr>
          <a:xfrm>
            <a:off x="960120" y="3429000"/>
            <a:ext cx="2844698" cy="91440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Most warehouse safety e-learning is a slideshow followed by multiple choice. It checks whether you can repeat a rule.</a:t>
            </a:r>
            <a:endParaRPr lang="en-US" sz="1200" dirty="0"/>
          </a:p>
        </p:txBody>
      </p:sp>
      <p:sp>
        <p:nvSpPr>
          <p:cNvPr id="9" name="Shape 7"/>
          <p:cNvSpPr/>
          <p:nvPr/>
        </p:nvSpPr>
        <p:spPr>
          <a:xfrm>
            <a:off x="4353458" y="2148840"/>
            <a:ext cx="3484778" cy="2286000"/>
          </a:xfrm>
          <a:prstGeom prst="roundRect">
            <a:avLst>
              <a:gd name="adj" fmla="val 3200"/>
            </a:avLst>
          </a:prstGeom>
          <a:solidFill>
            <a:srgbClr val="F1F3F5"/>
          </a:solidFill>
          <a:ln/>
          <a:effectLst>
            <a:outerShdw sx="100000" sy="100000" kx="0" ky="0" algn="bl" rotWithShape="0" blurRad="101600" dist="508" dir="5400000">
              <a:srgbClr val="000000">
                <a:alpha val="10000"/>
              </a:srgbClr>
            </a:outerShdw>
          </a:effectLst>
        </p:spPr>
      </p:sp>
      <p:sp>
        <p:nvSpPr>
          <p:cNvPr id="10" name="Shape 8"/>
          <p:cNvSpPr/>
          <p:nvPr/>
        </p:nvSpPr>
        <p:spPr>
          <a:xfrm>
            <a:off x="4673498" y="2468880"/>
            <a:ext cx="402336" cy="402336"/>
          </a:xfrm>
          <a:prstGeom prst="ellipse">
            <a:avLst/>
          </a:prstGeom>
          <a:solidFill>
            <a:srgbClr val="F2B90C"/>
          </a:solidFill>
          <a:ln/>
        </p:spPr>
      </p:sp>
      <p:sp>
        <p:nvSpPr>
          <p:cNvPr id="11" name="Text 9"/>
          <p:cNvSpPr txBox="1"/>
          <p:nvPr/>
        </p:nvSpPr>
        <p:spPr>
          <a:xfrm>
            <a:off x="4673498" y="2468880"/>
            <a:ext cx="402336" cy="402336"/>
          </a:xfrm>
          <a:prstGeom prst="rect">
            <a:avLst/>
          </a:prstGeom>
          <a:noFill/>
          <a:ln/>
        </p:spPr>
        <p:txBody>
          <a:bodyPr wrap="square" lIns="0" tIns="0" rIns="0" bIns="0" rtlCol="0" anchor="ctr"/>
          <a:lstStyle/>
          <a:p>
            <a:pPr algn="ctr" indent="0" marL="0">
              <a:buNone/>
            </a:pPr>
            <a:r>
              <a:rPr lang="en-US" sz="1400" b="1" dirty="0">
                <a:solidFill>
                  <a:srgbClr val="14181C"/>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673498" y="3017520"/>
            <a:ext cx="2844698" cy="365760"/>
          </a:xfrm>
          <a:prstGeom prst="rect">
            <a:avLst/>
          </a:prstGeom>
          <a:noFill/>
          <a:ln/>
        </p:spPr>
        <p:txBody>
          <a:bodyPr wrap="square" lIns="0" tIns="0" rIns="0" bIns="0" rtlCol="0" anchor="t"/>
          <a:lstStyle/>
          <a:p>
            <a:pPr indent="0" marL="0">
              <a:buNone/>
            </a:pPr>
            <a:r>
              <a:rPr lang="en-US" sz="1500" b="1" dirty="0">
                <a:solidFill>
                  <a:srgbClr val="14181C"/>
                </a:solidFill>
                <a:latin typeface="Arial" pitchFamily="34" charset="0"/>
                <a:ea typeface="Arial" pitchFamily="34" charset="-122"/>
                <a:cs typeface="Arial" pitchFamily="34" charset="-120"/>
              </a:rPr>
              <a:t>The real skill is visual</a:t>
            </a:r>
            <a:endParaRPr lang="en-US" sz="1500" dirty="0"/>
          </a:p>
        </p:txBody>
      </p:sp>
      <p:sp>
        <p:nvSpPr>
          <p:cNvPr id="13" name="Text 11"/>
          <p:cNvSpPr txBox="1"/>
          <p:nvPr/>
        </p:nvSpPr>
        <p:spPr>
          <a:xfrm>
            <a:off x="4673498" y="3429000"/>
            <a:ext cx="2844698" cy="91440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On the floor, nobody labels the hazard. You have to notice one rack upright is not vertical, or a carton overhangs a beam.</a:t>
            </a:r>
            <a:endParaRPr lang="en-US" sz="1200" dirty="0"/>
          </a:p>
        </p:txBody>
      </p:sp>
      <p:sp>
        <p:nvSpPr>
          <p:cNvPr id="14" name="Shape 12"/>
          <p:cNvSpPr/>
          <p:nvPr/>
        </p:nvSpPr>
        <p:spPr>
          <a:xfrm>
            <a:off x="8066837" y="2148840"/>
            <a:ext cx="3484778" cy="2286000"/>
          </a:xfrm>
          <a:prstGeom prst="roundRect">
            <a:avLst>
              <a:gd name="adj" fmla="val 3200"/>
            </a:avLst>
          </a:prstGeom>
          <a:solidFill>
            <a:srgbClr val="F1F3F5"/>
          </a:solidFill>
          <a:ln/>
          <a:effectLst>
            <a:outerShdw sx="100000" sy="100000" kx="0" ky="0" algn="bl" rotWithShape="0" blurRad="101600" dist="508" dir="5400000">
              <a:srgbClr val="000000">
                <a:alpha val="10000"/>
              </a:srgbClr>
            </a:outerShdw>
          </a:effectLst>
        </p:spPr>
      </p:sp>
      <p:sp>
        <p:nvSpPr>
          <p:cNvPr id="15" name="Shape 13"/>
          <p:cNvSpPr/>
          <p:nvPr/>
        </p:nvSpPr>
        <p:spPr>
          <a:xfrm>
            <a:off x="8386877" y="2468880"/>
            <a:ext cx="402336" cy="402336"/>
          </a:xfrm>
          <a:prstGeom prst="ellipse">
            <a:avLst/>
          </a:prstGeom>
          <a:solidFill>
            <a:srgbClr val="F2B90C"/>
          </a:solidFill>
          <a:ln/>
        </p:spPr>
      </p:sp>
      <p:sp>
        <p:nvSpPr>
          <p:cNvPr id="16" name="Text 14"/>
          <p:cNvSpPr txBox="1"/>
          <p:nvPr/>
        </p:nvSpPr>
        <p:spPr>
          <a:xfrm>
            <a:off x="8386877" y="2468880"/>
            <a:ext cx="402336" cy="402336"/>
          </a:xfrm>
          <a:prstGeom prst="rect">
            <a:avLst/>
          </a:prstGeom>
          <a:noFill/>
          <a:ln/>
        </p:spPr>
        <p:txBody>
          <a:bodyPr wrap="square" lIns="0" tIns="0" rIns="0" bIns="0" rtlCol="0" anchor="ctr"/>
          <a:lstStyle/>
          <a:p>
            <a:pPr algn="ctr" indent="0" marL="0">
              <a:buNone/>
            </a:pPr>
            <a:r>
              <a:rPr lang="en-US" sz="1400" b="1" dirty="0">
                <a:solidFill>
                  <a:srgbClr val="14181C"/>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86877" y="3017520"/>
            <a:ext cx="2844698" cy="365760"/>
          </a:xfrm>
          <a:prstGeom prst="rect">
            <a:avLst/>
          </a:prstGeom>
          <a:noFill/>
          <a:ln/>
        </p:spPr>
        <p:txBody>
          <a:bodyPr wrap="square" lIns="0" tIns="0" rIns="0" bIns="0" rtlCol="0" anchor="t"/>
          <a:lstStyle/>
          <a:p>
            <a:pPr indent="0" marL="0">
              <a:buNone/>
            </a:pPr>
            <a:r>
              <a:rPr lang="en-US" sz="1500" b="1" dirty="0">
                <a:solidFill>
                  <a:srgbClr val="14181C"/>
                </a:solidFill>
                <a:latin typeface="Arial" pitchFamily="34" charset="0"/>
                <a:ea typeface="Arial" pitchFamily="34" charset="-122"/>
                <a:cs typeface="Arial" pitchFamily="34" charset="-120"/>
              </a:rPr>
              <a:t>The gap costs lives</a:t>
            </a:r>
            <a:endParaRPr lang="en-US" sz="1500" dirty="0"/>
          </a:p>
        </p:txBody>
      </p:sp>
      <p:sp>
        <p:nvSpPr>
          <p:cNvPr id="18" name="Text 16"/>
          <p:cNvSpPr txBox="1"/>
          <p:nvPr/>
        </p:nvSpPr>
        <p:spPr>
          <a:xfrm>
            <a:off x="8386877" y="3429000"/>
            <a:ext cx="2844698" cy="91440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Forklift and pedestrian incidents are among the most serious in warehousing — and they are spotted, or missed, by eye.</a:t>
            </a:r>
            <a:endParaRPr lang="en-US" sz="1200" dirty="0"/>
          </a:p>
        </p:txBody>
      </p:sp>
      <p:sp>
        <p:nvSpPr>
          <p:cNvPr id="19" name="Text 17"/>
          <p:cNvSpPr txBox="1"/>
          <p:nvPr/>
        </p:nvSpPr>
        <p:spPr>
          <a:xfrm>
            <a:off x="640080" y="4892040"/>
            <a:ext cx="10911535" cy="457200"/>
          </a:xfrm>
          <a:prstGeom prst="rect">
            <a:avLst/>
          </a:prstGeom>
          <a:noFill/>
          <a:ln/>
        </p:spPr>
        <p:txBody>
          <a:bodyPr wrap="square" lIns="0" tIns="0" rIns="0" bIns="0" rtlCol="0" anchor="t"/>
          <a:lstStyle/>
          <a:p>
            <a:pPr algn="l" indent="0" marL="0">
              <a:lnSpc>
                <a:spcPct val="120000"/>
              </a:lnSpc>
              <a:buNone/>
            </a:pPr>
            <a:r>
              <a:rPr lang="en-US" sz="1700" i="1" dirty="0">
                <a:solidFill>
                  <a:srgbClr val="14181C"/>
                </a:solidFill>
                <a:latin typeface="Calibri" pitchFamily="34" charset="0"/>
                <a:ea typeface="Calibri" pitchFamily="34" charset="-122"/>
                <a:cs typeface="Calibri" pitchFamily="34" charset="-120"/>
              </a:rPr>
              <a:t>A trainee can score full marks on the quiz and still walk past a blocked fire exit.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acer\Desktop\interprize_project\ppt\shots\opt\env01_walkway.jpg">    </p:cNvPr>
          <p:cNvPicPr>
            <a:picLocks noChangeAspect="1"/>
          </p:cNvPicPr>
          <p:nvPr/>
        </p:nvPicPr>
        <p:blipFill>
          <a:blip r:embed="rId1"/>
          <a:srcRect l="0" r="0" t="0" b="0"/>
          <a:stretch/>
        </p:blipFill>
        <p:spPr>
          <a:xfrm>
            <a:off x="6095848" y="0"/>
            <a:ext cx="6095848" cy="6858000"/>
          </a:xfrm>
          <a:prstGeom prst="rect">
            <a:avLst/>
          </a:prstGeom>
        </p:spPr>
      </p:pic>
      <p:sp>
        <p:nvSpPr>
          <p:cNvPr id="3"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OUR APPROACH</a:t>
            </a:r>
            <a:endParaRPr lang="en-US" sz="1200" dirty="0"/>
          </a:p>
        </p:txBody>
      </p:sp>
      <p:sp>
        <p:nvSpPr>
          <p:cNvPr id="4"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Put them in the building</a:t>
            </a:r>
            <a:endParaRPr lang="en-US" sz="3200" dirty="0"/>
          </a:p>
        </p:txBody>
      </p:sp>
      <p:sp>
        <p:nvSpPr>
          <p:cNvPr id="5" name="Text 2"/>
          <p:cNvSpPr txBox="1"/>
          <p:nvPr/>
        </p:nvSpPr>
        <p:spPr>
          <a:xfrm>
            <a:off x="640080" y="1463040"/>
            <a:ext cx="5120640" cy="731520"/>
          </a:xfrm>
          <a:prstGeom prst="rect">
            <a:avLst/>
          </a:prstGeom>
          <a:noFill/>
          <a:ln/>
        </p:spPr>
        <p:txBody>
          <a:bodyPr wrap="square" lIns="0" tIns="0" rIns="0" bIns="0" rtlCol="0" anchor="t"/>
          <a:lstStyle/>
          <a:p>
            <a:pPr algn="l" indent="0" marL="0">
              <a:lnSpc>
                <a:spcPct val="120000"/>
              </a:lnSpc>
              <a:buNone/>
            </a:pPr>
            <a:r>
              <a:rPr lang="en-US" sz="1500" dirty="0">
                <a:solidFill>
                  <a:srgbClr val="3C444C"/>
                </a:solidFill>
                <a:latin typeface="Calibri" pitchFamily="34" charset="0"/>
                <a:ea typeface="Calibri" pitchFamily="34" charset="-122"/>
                <a:cs typeface="Calibri" pitchFamily="34" charset="-120"/>
              </a:rPr>
              <a:t>Beat The Hazard is a browser-based 3D warehouse the trainee walks around in first person.</a:t>
            </a:r>
            <a:endParaRPr lang="en-US" sz="1500" dirty="0"/>
          </a:p>
        </p:txBody>
      </p:sp>
      <p:sp>
        <p:nvSpPr>
          <p:cNvPr id="6" name="Text 3"/>
          <p:cNvSpPr txBox="1"/>
          <p:nvPr/>
        </p:nvSpPr>
        <p:spPr>
          <a:xfrm>
            <a:off x="640080" y="2468880"/>
            <a:ext cx="50292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C444C"/>
                </a:solidFill>
                <a:latin typeface="Calibri" pitchFamily="34" charset="0"/>
                <a:ea typeface="Calibri" pitchFamily="34" charset="-122"/>
                <a:cs typeface="Calibri" pitchFamily="34" charset="-120"/>
              </a:rPr>
              <a:t>Every hazard is built as real geometry, at real scale</a:t>
            </a:r>
            <a:endParaRPr lang="en-US" sz="1400" dirty="0"/>
          </a:p>
          <a:p>
            <a:pPr marL="342900" indent="-342900">
              <a:spcAft>
                <a:spcPts val="800"/>
              </a:spcAft>
              <a:buSzPct val="100000"/>
              <a:buChar char="•"/>
            </a:pPr>
            <a:r>
              <a:rPr lang="en-US" sz="1400" dirty="0">
                <a:solidFill>
                  <a:srgbClr val="3C444C"/>
                </a:solidFill>
                <a:latin typeface="Calibri" pitchFamily="34" charset="0"/>
                <a:ea typeface="Calibri" pitchFamily="34" charset="-122"/>
                <a:cs typeface="Calibri" pitchFamily="34" charset="-120"/>
              </a:rPr>
              <a:t>Inspect it from any angle, at your own eye level</a:t>
            </a:r>
            <a:endParaRPr lang="en-US" sz="1400" dirty="0"/>
          </a:p>
          <a:p>
            <a:pPr marL="342900" indent="-342900">
              <a:spcAft>
                <a:spcPts val="800"/>
              </a:spcAft>
              <a:buSzPct val="100000"/>
              <a:buChar char="•"/>
            </a:pPr>
            <a:r>
              <a:rPr lang="en-US" sz="1400" dirty="0">
                <a:solidFill>
                  <a:srgbClr val="3C444C"/>
                </a:solidFill>
                <a:latin typeface="Calibri" pitchFamily="34" charset="0"/>
                <a:ea typeface="Calibri" pitchFamily="34" charset="-122"/>
                <a:cs typeface="Calibri" pitchFamily="34" charset="-120"/>
              </a:rPr>
              <a:t>Train Mode teaches it; Test Mode measures whether it stuck</a:t>
            </a:r>
            <a:endParaRPr lang="en-US" sz="1400" dirty="0"/>
          </a:p>
          <a:p>
            <a:pPr marL="342900" indent="-342900">
              <a:spcAft>
                <a:spcPts val="800"/>
              </a:spcAft>
              <a:buSzPct val="100000"/>
              <a:buChar char="•"/>
            </a:pPr>
            <a:r>
              <a:rPr lang="en-US" sz="1400" dirty="0">
                <a:solidFill>
                  <a:srgbClr val="3C444C"/>
                </a:solidFill>
                <a:latin typeface="Calibri" pitchFamily="34" charset="0"/>
                <a:ea typeface="Calibri" pitchFamily="34" charset="-122"/>
                <a:cs typeface="Calibri" pitchFamily="34" charset="-120"/>
              </a:rPr>
              <a:t>Runs in any modern browser — no install, no headset</a:t>
            </a:r>
            <a:endParaRPr lang="en-US" sz="1400" dirty="0"/>
          </a:p>
        </p:txBody>
      </p:sp>
      <p:sp>
        <p:nvSpPr>
          <p:cNvPr id="7" name="Shape 4"/>
          <p:cNvSpPr/>
          <p:nvPr/>
        </p:nvSpPr>
        <p:spPr>
          <a:xfrm>
            <a:off x="640080" y="4800600"/>
            <a:ext cx="5029200" cy="1234440"/>
          </a:xfrm>
          <a:prstGeom prst="roundRect">
            <a:avLst>
              <a:gd name="adj" fmla="val 5926"/>
            </a:avLst>
          </a:prstGeom>
          <a:solidFill>
            <a:srgbClr val="14181C"/>
          </a:solidFill>
          <a:ln/>
        </p:spPr>
      </p:sp>
      <p:sp>
        <p:nvSpPr>
          <p:cNvPr id="8" name="Text 5"/>
          <p:cNvSpPr txBox="1"/>
          <p:nvPr/>
        </p:nvSpPr>
        <p:spPr>
          <a:xfrm>
            <a:off x="960120" y="5029200"/>
            <a:ext cx="4389120" cy="822960"/>
          </a:xfrm>
          <a:prstGeom prst="rect">
            <a:avLst/>
          </a:prstGeom>
          <a:noFill/>
          <a:ln/>
        </p:spPr>
        <p:txBody>
          <a:bodyPr wrap="square" lIns="0" tIns="0" rIns="0" bIns="0" rtlCol="0" anchor="ctr"/>
          <a:lstStyle/>
          <a:p>
            <a:pPr indent="0" marL="0">
              <a:lnSpc>
                <a:spcPct val="120000"/>
              </a:lnSpc>
              <a:buNone/>
            </a:pPr>
            <a:r>
              <a:rPr lang="en-US" sz="1500" b="1" dirty="0">
                <a:solidFill>
                  <a:srgbClr val="F2B90C"/>
                </a:solidFill>
                <a:latin typeface="Calibri" pitchFamily="34" charset="0"/>
                <a:ea typeface="Calibri" pitchFamily="34" charset="-122"/>
                <a:cs typeface="Calibri" pitchFamily="34" charset="-120"/>
              </a:rPr>
              <a:t>Recognising a hazard is a spatial skill.</a:t>
            </a:r>
            <a:endParaRPr lang="en-US" sz="1500" dirty="0"/>
          </a:p>
          <a:p>
            <a:pPr indent="0" marL="0">
              <a:lnSpc>
                <a:spcPct val="120000"/>
              </a:lnSpc>
              <a:buNone/>
            </a:pPr>
            <a:r>
              <a:rPr lang="en-US" sz="1500" b="1" dirty="0">
                <a:solidFill>
                  <a:srgbClr val="F2B90C"/>
                </a:solidFill>
                <a:latin typeface="Calibri" pitchFamily="34" charset="0"/>
                <a:ea typeface="Calibri" pitchFamily="34" charset="-122"/>
                <a:cs typeface="Calibri" pitchFamily="34" charset="-120"/>
              </a:rPr>
              <a:t>So we made the training spatial.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THE RULE EVERYTHING IS BUILT ON</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A hazard is never an icon</a:t>
            </a:r>
            <a:endParaRPr lang="en-US" sz="3200" dirty="0"/>
          </a:p>
        </p:txBody>
      </p:sp>
      <p:sp>
        <p:nvSpPr>
          <p:cNvPr id="4" name="Shape 2"/>
          <p:cNvSpPr/>
          <p:nvPr/>
        </p:nvSpPr>
        <p:spPr>
          <a:xfrm>
            <a:off x="640080" y="1600200"/>
            <a:ext cx="4114800" cy="1965960"/>
          </a:xfrm>
          <a:prstGeom prst="roundRect">
            <a:avLst>
              <a:gd name="adj" fmla="val 3721"/>
            </a:avLst>
          </a:prstGeom>
          <a:solidFill>
            <a:srgbClr val="FBEAEC"/>
          </a:solidFill>
          <a:ln w="12700">
            <a:solidFill>
              <a:srgbClr val="E8B4BA"/>
            </a:solidFill>
            <a:prstDash val="solid"/>
          </a:ln>
          <a:effectLst>
            <a:outerShdw sx="100000" sy="100000" kx="0" ky="0" algn="bl" rotWithShape="0" blurRad="101600" dist="508" dir="5400000">
              <a:srgbClr val="000000">
                <a:alpha val="10000"/>
              </a:srgbClr>
            </a:outerShdw>
          </a:effectLst>
        </p:spPr>
      </p:sp>
      <p:sp>
        <p:nvSpPr>
          <p:cNvPr id="5" name="Shape 3"/>
          <p:cNvSpPr/>
          <p:nvPr/>
        </p:nvSpPr>
        <p:spPr>
          <a:xfrm>
            <a:off x="914400" y="1828800"/>
            <a:ext cx="384048" cy="384048"/>
          </a:xfrm>
          <a:prstGeom prst="ellipse">
            <a:avLst/>
          </a:prstGeom>
          <a:solidFill>
            <a:srgbClr val="C0182A"/>
          </a:solidFill>
          <a:ln/>
        </p:spPr>
      </p:sp>
      <p:sp>
        <p:nvSpPr>
          <p:cNvPr id="6" name="Text 4"/>
          <p:cNvSpPr txBox="1"/>
          <p:nvPr/>
        </p:nvSpPr>
        <p:spPr>
          <a:xfrm>
            <a:off x="91440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7" name="Text 5"/>
          <p:cNvSpPr txBox="1"/>
          <p:nvPr/>
        </p:nvSpPr>
        <p:spPr>
          <a:xfrm>
            <a:off x="1463040" y="1847088"/>
            <a:ext cx="3017520" cy="365760"/>
          </a:xfrm>
          <a:prstGeom prst="rect">
            <a:avLst/>
          </a:prstGeom>
          <a:noFill/>
          <a:ln/>
        </p:spPr>
        <p:txBody>
          <a:bodyPr wrap="square" lIns="0" tIns="0" rIns="0" bIns="0" rtlCol="0" anchor="ctr"/>
          <a:lstStyle/>
          <a:p>
            <a:pPr indent="0" marL="0">
              <a:buNone/>
            </a:pPr>
            <a:r>
              <a:rPr lang="en-US" sz="1500" b="1" dirty="0">
                <a:solidFill>
                  <a:srgbClr val="C0182A"/>
                </a:solidFill>
                <a:latin typeface="Arial" pitchFamily="34" charset="0"/>
                <a:ea typeface="Arial" pitchFamily="34" charset="-122"/>
                <a:cs typeface="Arial" pitchFamily="34" charset="-120"/>
              </a:rPr>
              <a:t>What most tools do</a:t>
            </a:r>
            <a:endParaRPr lang="en-US" sz="1500" dirty="0"/>
          </a:p>
        </p:txBody>
      </p:sp>
      <p:sp>
        <p:nvSpPr>
          <p:cNvPr id="8" name="Text 6"/>
          <p:cNvSpPr txBox="1"/>
          <p:nvPr/>
        </p:nvSpPr>
        <p:spPr>
          <a:xfrm>
            <a:off x="914400" y="2423160"/>
            <a:ext cx="3566160" cy="1005840"/>
          </a:xfrm>
          <a:prstGeom prst="rect">
            <a:avLst/>
          </a:prstGeom>
          <a:noFill/>
          <a:ln/>
        </p:spPr>
        <p:txBody>
          <a:bodyPr wrap="square" lIns="0" tIns="0" rIns="0" bIns="0" rtlCol="0" anchor="t"/>
          <a:lstStyle/>
          <a:p>
            <a:pPr algn="l" indent="0" marL="0">
              <a:lnSpc>
                <a:spcPct val="120000"/>
              </a:lnSpc>
              <a:buNone/>
            </a:pPr>
            <a:r>
              <a:rPr lang="en-US" sz="1250" dirty="0">
                <a:solidFill>
                  <a:srgbClr val="3C444C"/>
                </a:solidFill>
                <a:latin typeface="Calibri" pitchFamily="34" charset="0"/>
                <a:ea typeface="Calibri" pitchFamily="34" charset="-122"/>
                <a:cs typeface="Calibri" pitchFamily="34" charset="-120"/>
              </a:rPr>
              <a:t>A red marker floating in a photo, labelled "FALLING BOXES". The answer is given away — the trainee only has to click it.</a:t>
            </a:r>
            <a:endParaRPr lang="en-US" sz="1250" dirty="0"/>
          </a:p>
        </p:txBody>
      </p:sp>
      <p:sp>
        <p:nvSpPr>
          <p:cNvPr id="9" name="Shape 7"/>
          <p:cNvSpPr/>
          <p:nvPr/>
        </p:nvSpPr>
        <p:spPr>
          <a:xfrm>
            <a:off x="4983480" y="1600200"/>
            <a:ext cx="4114800" cy="1965960"/>
          </a:xfrm>
          <a:prstGeom prst="roundRect">
            <a:avLst>
              <a:gd name="adj" fmla="val 3721"/>
            </a:avLst>
          </a:prstGeom>
          <a:solidFill>
            <a:srgbClr val="E8F5EC"/>
          </a:solidFill>
          <a:ln w="12700">
            <a:solidFill>
              <a:srgbClr val="A9D5B9"/>
            </a:solidFill>
            <a:prstDash val="solid"/>
          </a:ln>
          <a:effectLst>
            <a:outerShdw sx="100000" sy="100000" kx="0" ky="0" algn="bl" rotWithShape="0" blurRad="101600" dist="508" dir="5400000">
              <a:srgbClr val="000000">
                <a:alpha val="10000"/>
              </a:srgbClr>
            </a:outerShdw>
          </a:effectLst>
        </p:spPr>
      </p:sp>
      <p:sp>
        <p:nvSpPr>
          <p:cNvPr id="10" name="Shape 8"/>
          <p:cNvSpPr/>
          <p:nvPr/>
        </p:nvSpPr>
        <p:spPr>
          <a:xfrm>
            <a:off x="5257800" y="1828800"/>
            <a:ext cx="384048" cy="384048"/>
          </a:xfrm>
          <a:prstGeom prst="ellipse">
            <a:avLst/>
          </a:prstGeom>
          <a:solidFill>
            <a:srgbClr val="1F8A4C"/>
          </a:solidFill>
          <a:ln/>
        </p:spPr>
      </p:sp>
      <p:sp>
        <p:nvSpPr>
          <p:cNvPr id="11" name="Text 9"/>
          <p:cNvSpPr txBox="1"/>
          <p:nvPr/>
        </p:nvSpPr>
        <p:spPr>
          <a:xfrm>
            <a:off x="525780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5806440" y="1847088"/>
            <a:ext cx="3017520" cy="365760"/>
          </a:xfrm>
          <a:prstGeom prst="rect">
            <a:avLst/>
          </a:prstGeom>
          <a:noFill/>
          <a:ln/>
        </p:spPr>
        <p:txBody>
          <a:bodyPr wrap="square" lIns="0" tIns="0" rIns="0" bIns="0" rtlCol="0" anchor="ctr"/>
          <a:lstStyle/>
          <a:p>
            <a:pPr indent="0" marL="0">
              <a:buNone/>
            </a:pPr>
            <a:r>
              <a:rPr lang="en-US" sz="1500" b="1" dirty="0">
                <a:solidFill>
                  <a:srgbClr val="1F8A4C"/>
                </a:solidFill>
                <a:latin typeface="Arial" pitchFamily="34" charset="0"/>
                <a:ea typeface="Arial" pitchFamily="34" charset="-122"/>
                <a:cs typeface="Arial" pitchFamily="34" charset="-120"/>
              </a:rPr>
              <a:t>What we do</a:t>
            </a:r>
            <a:endParaRPr lang="en-US" sz="1500" dirty="0"/>
          </a:p>
        </p:txBody>
      </p:sp>
      <p:sp>
        <p:nvSpPr>
          <p:cNvPr id="13" name="Text 11"/>
          <p:cNvSpPr txBox="1"/>
          <p:nvPr/>
        </p:nvSpPr>
        <p:spPr>
          <a:xfrm>
            <a:off x="5257800" y="2423160"/>
            <a:ext cx="3566160" cy="1005840"/>
          </a:xfrm>
          <a:prstGeom prst="rect">
            <a:avLst/>
          </a:prstGeom>
          <a:noFill/>
          <a:ln/>
        </p:spPr>
        <p:txBody>
          <a:bodyPr wrap="square" lIns="0" tIns="0" rIns="0" bIns="0" rtlCol="0" anchor="t"/>
          <a:lstStyle/>
          <a:p>
            <a:pPr algn="l" indent="0" marL="0">
              <a:lnSpc>
                <a:spcPct val="120000"/>
              </a:lnSpc>
              <a:buNone/>
            </a:pPr>
            <a:r>
              <a:rPr lang="en-US" sz="1250" dirty="0">
                <a:solidFill>
                  <a:srgbClr val="3C444C"/>
                </a:solidFill>
                <a:latin typeface="Calibri" pitchFamily="34" charset="0"/>
                <a:ea typeface="Calibri" pitchFamily="34" charset="-122"/>
                <a:cs typeface="Calibri" pitchFamily="34" charset="-120"/>
              </a:rPr>
              <a:t>A rack bay where most cartons sit square — one is displaced, one is tilted, and one overhangs the beam and falls. You judge it by looking.</a:t>
            </a:r>
            <a:endParaRPr lang="en-US" sz="1250" dirty="0"/>
          </a:p>
        </p:txBody>
      </p:sp>
      <p:pic>
        <p:nvPicPr>
          <p:cNvPr id="14" name="Image 0" descr="C:\Users\acer\Desktop\interprize_project\ppt\shots\opt\hz_falling2.jpg">    </p:cNvPr>
          <p:cNvPicPr>
            <a:picLocks noChangeAspect="1"/>
          </p:cNvPicPr>
          <p:nvPr/>
        </p:nvPicPr>
        <p:blipFill>
          <a:blip r:embed="rId1"/>
          <a:srcRect l="0" r="0" t="0" b="0"/>
          <a:stretch/>
        </p:blipFill>
        <p:spPr>
          <a:xfrm>
            <a:off x="640080" y="3794760"/>
            <a:ext cx="8458200" cy="2377440"/>
          </a:xfrm>
          <a:prstGeom prst="rect">
            <a:avLst/>
          </a:prstGeom>
        </p:spPr>
      </p:pic>
      <p:sp>
        <p:nvSpPr>
          <p:cNvPr id="15" name="Text 12"/>
          <p:cNvSpPr txBox="1"/>
          <p:nvPr/>
        </p:nvSpPr>
        <p:spPr>
          <a:xfrm>
            <a:off x="640080" y="6263640"/>
            <a:ext cx="8458200" cy="274320"/>
          </a:xfrm>
          <a:prstGeom prst="rect">
            <a:avLst/>
          </a:prstGeom>
          <a:noFill/>
          <a:ln/>
        </p:spPr>
        <p:txBody>
          <a:bodyPr wrap="square" lIns="0" tIns="0" rIns="0" bIns="0" rtlCol="0" anchor="ctr"/>
          <a:lstStyle/>
          <a:p>
            <a:pPr indent="0" marL="0">
              <a:buNone/>
            </a:pPr>
            <a:r>
              <a:rPr lang="en-US" sz="1100" i="1" dirty="0">
                <a:solidFill>
                  <a:srgbClr val="6B747D"/>
                </a:solidFill>
                <a:latin typeface="Calibri" pitchFamily="34" charset="0"/>
                <a:ea typeface="Calibri" pitchFamily="34" charset="-122"/>
                <a:cs typeface="Calibri" pitchFamily="34" charset="-120"/>
              </a:rPr>
              <a:t>Real screenshot — the unstable pallet sits among correctly stacked ones. No label, no marker.</a:t>
            </a:r>
            <a:endParaRPr lang="en-US" sz="1100" dirty="0"/>
          </a:p>
        </p:txBody>
      </p:sp>
      <p:sp>
        <p:nvSpPr>
          <p:cNvPr id="16" name="Shape 13"/>
          <p:cNvSpPr/>
          <p:nvPr/>
        </p:nvSpPr>
        <p:spPr>
          <a:xfrm>
            <a:off x="9464040" y="1600200"/>
            <a:ext cx="2103120" cy="4572000"/>
          </a:xfrm>
          <a:prstGeom prst="roundRect">
            <a:avLst>
              <a:gd name="adj" fmla="val 3478"/>
            </a:avLst>
          </a:prstGeom>
          <a:solidFill>
            <a:srgbClr val="14181C"/>
          </a:solidFill>
          <a:ln/>
        </p:spPr>
      </p:sp>
      <p:sp>
        <p:nvSpPr>
          <p:cNvPr id="17" name="Text 14"/>
          <p:cNvSpPr txBox="1"/>
          <p:nvPr/>
        </p:nvSpPr>
        <p:spPr>
          <a:xfrm>
            <a:off x="9692640" y="1828800"/>
            <a:ext cx="1691640" cy="320040"/>
          </a:xfrm>
          <a:prstGeom prst="rect">
            <a:avLst/>
          </a:prstGeom>
          <a:noFill/>
          <a:ln/>
        </p:spPr>
        <p:txBody>
          <a:bodyPr wrap="square" lIns="0" tIns="0" rIns="0" bIns="0" rtlCol="0" anchor="ctr"/>
          <a:lstStyle/>
          <a:p>
            <a:pPr indent="0" marL="0">
              <a:buNone/>
            </a:pPr>
            <a:r>
              <a:rPr lang="en-US" sz="1300" b="1" dirty="0">
                <a:solidFill>
                  <a:srgbClr val="F2B90C"/>
                </a:solidFill>
                <a:latin typeface="Arial" pitchFamily="34" charset="0"/>
                <a:ea typeface="Arial" pitchFamily="34" charset="-122"/>
                <a:cs typeface="Arial" pitchFamily="34" charset="-120"/>
              </a:rPr>
              <a:t>Why it matters</a:t>
            </a:r>
            <a:endParaRPr lang="en-US" sz="1300" dirty="0"/>
          </a:p>
        </p:txBody>
      </p:sp>
      <p:sp>
        <p:nvSpPr>
          <p:cNvPr id="18" name="Text 15"/>
          <p:cNvSpPr txBox="1"/>
          <p:nvPr/>
        </p:nvSpPr>
        <p:spPr>
          <a:xfrm>
            <a:off x="9692640" y="2286000"/>
            <a:ext cx="1691640" cy="3566160"/>
          </a:xfrm>
          <a:prstGeom prst="rect">
            <a:avLst/>
          </a:prstGeom>
          <a:noFill/>
          <a:ln/>
        </p:spPr>
        <p:txBody>
          <a:bodyPr wrap="square" lIns="0" tIns="0" rIns="0" bIns="0" rtlCol="0" anchor="t"/>
          <a:lstStyle/>
          <a:p>
            <a:pPr algn="l" indent="0" marL="0">
              <a:lnSpc>
                <a:spcPct val="130000"/>
              </a:lnSpc>
              <a:buNone/>
            </a:pPr>
            <a:r>
              <a:rPr lang="en-US" sz="1250" dirty="0">
                <a:solidFill>
                  <a:srgbClr val="FFFFFF"/>
                </a:solidFill>
                <a:latin typeface="Calibri" pitchFamily="34" charset="0"/>
                <a:ea typeface="Calibri" pitchFamily="34" charset="-122"/>
                <a:cs typeface="Calibri" pitchFamily="34" charset="-120"/>
              </a:rPr>
              <a:t>If the hazard is a marker, you are training people to spot markers.</a:t>
            </a:r>
            <a:endParaRPr lang="en-US" sz="1250" dirty="0"/>
          </a:p>
          <a:p>
            <a:pPr algn="l" indent="0" marL="0">
              <a:lnSpc>
                <a:spcPct val="130000"/>
              </a:lnSpc>
              <a:buNone/>
            </a:pPr>
            <a:endParaRPr lang="en-US" sz="1250" dirty="0"/>
          </a:p>
          <a:p>
            <a:pPr algn="l" indent="0" marL="0">
              <a:lnSpc>
                <a:spcPct val="130000"/>
              </a:lnSpc>
              <a:buNone/>
            </a:pPr>
            <a:r>
              <a:rPr lang="en-US" sz="1250" dirty="0">
                <a:solidFill>
                  <a:srgbClr val="FFFFFF"/>
                </a:solidFill>
                <a:latin typeface="Calibri" pitchFamily="34" charset="0"/>
                <a:ea typeface="Calibri" pitchFamily="34" charset="-122"/>
                <a:cs typeface="Calibri" pitchFamily="34" charset="-120"/>
              </a:rPr>
              <a:t>If the hazard is the warehouse itself, you are training people to spot hazards.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COVERAGE</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2800" b="1" dirty="0">
                <a:solidFill>
                  <a:srgbClr val="14181C"/>
                </a:solidFill>
                <a:latin typeface="Arial" pitchFamily="34" charset="0"/>
                <a:ea typeface="Arial" pitchFamily="34" charset="-122"/>
                <a:cs typeface="Arial" pitchFamily="34" charset="-120"/>
              </a:rPr>
              <a:t>15 hazard scenarios, all physically modelled</a:t>
            </a:r>
            <a:endParaRPr lang="en-US" sz="2800" dirty="0"/>
          </a:p>
        </p:txBody>
      </p:sp>
      <p:sp>
        <p:nvSpPr>
          <p:cNvPr id="4" name="Shape 2"/>
          <p:cNvSpPr/>
          <p:nvPr/>
        </p:nvSpPr>
        <p:spPr>
          <a:xfrm>
            <a:off x="640080" y="1554480"/>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5" name="Shape 3"/>
          <p:cNvSpPr/>
          <p:nvPr/>
        </p:nvSpPr>
        <p:spPr>
          <a:xfrm>
            <a:off x="804672" y="1719072"/>
            <a:ext cx="310896" cy="310896"/>
          </a:xfrm>
          <a:prstGeom prst="ellipse">
            <a:avLst/>
          </a:prstGeom>
          <a:solidFill>
            <a:srgbClr val="C0182A"/>
          </a:solidFill>
          <a:ln/>
        </p:spPr>
      </p:sp>
      <p:sp>
        <p:nvSpPr>
          <p:cNvPr id="6" name="Text 4"/>
          <p:cNvSpPr txBox="1"/>
          <p:nvPr/>
        </p:nvSpPr>
        <p:spPr>
          <a:xfrm>
            <a:off x="804672" y="1719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txBox="1"/>
          <p:nvPr/>
        </p:nvSpPr>
        <p:spPr>
          <a:xfrm>
            <a:off x="1792773" y="1719072"/>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8" name="Text 6"/>
          <p:cNvSpPr txBox="1"/>
          <p:nvPr/>
        </p:nvSpPr>
        <p:spPr>
          <a:xfrm>
            <a:off x="804672" y="2103120"/>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Forklift on a walkway</a:t>
            </a:r>
            <a:endParaRPr lang="en-US" sz="1200" dirty="0"/>
          </a:p>
        </p:txBody>
      </p:sp>
      <p:sp>
        <p:nvSpPr>
          <p:cNvPr id="9" name="Shape 7"/>
          <p:cNvSpPr/>
          <p:nvPr/>
        </p:nvSpPr>
        <p:spPr>
          <a:xfrm>
            <a:off x="2862621" y="1554480"/>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10" name="Shape 8"/>
          <p:cNvSpPr/>
          <p:nvPr/>
        </p:nvSpPr>
        <p:spPr>
          <a:xfrm>
            <a:off x="3027213" y="1719072"/>
            <a:ext cx="310896" cy="310896"/>
          </a:xfrm>
          <a:prstGeom prst="ellipse">
            <a:avLst/>
          </a:prstGeom>
          <a:solidFill>
            <a:srgbClr val="C0182A"/>
          </a:solidFill>
          <a:ln/>
        </p:spPr>
      </p:sp>
      <p:sp>
        <p:nvSpPr>
          <p:cNvPr id="11" name="Text 9"/>
          <p:cNvSpPr txBox="1"/>
          <p:nvPr/>
        </p:nvSpPr>
        <p:spPr>
          <a:xfrm>
            <a:off x="3027213" y="1719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txBox="1"/>
          <p:nvPr/>
        </p:nvSpPr>
        <p:spPr>
          <a:xfrm>
            <a:off x="4015313" y="1719072"/>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13" name="Text 11"/>
          <p:cNvSpPr txBox="1"/>
          <p:nvPr/>
        </p:nvSpPr>
        <p:spPr>
          <a:xfrm>
            <a:off x="3027213" y="2103120"/>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Reversing blind spot</a:t>
            </a:r>
            <a:endParaRPr lang="en-US" sz="1200" dirty="0"/>
          </a:p>
        </p:txBody>
      </p:sp>
      <p:sp>
        <p:nvSpPr>
          <p:cNvPr id="14" name="Shape 12"/>
          <p:cNvSpPr/>
          <p:nvPr/>
        </p:nvSpPr>
        <p:spPr>
          <a:xfrm>
            <a:off x="5085161" y="1554480"/>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15" name="Shape 13"/>
          <p:cNvSpPr/>
          <p:nvPr/>
        </p:nvSpPr>
        <p:spPr>
          <a:xfrm>
            <a:off x="5249753" y="1719072"/>
            <a:ext cx="310896" cy="310896"/>
          </a:xfrm>
          <a:prstGeom prst="ellipse">
            <a:avLst/>
          </a:prstGeom>
          <a:solidFill>
            <a:srgbClr val="C0182A"/>
          </a:solidFill>
          <a:ln/>
        </p:spPr>
      </p:sp>
      <p:sp>
        <p:nvSpPr>
          <p:cNvPr id="16" name="Text 14"/>
          <p:cNvSpPr txBox="1"/>
          <p:nvPr/>
        </p:nvSpPr>
        <p:spPr>
          <a:xfrm>
            <a:off x="5249753" y="1719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Text 15"/>
          <p:cNvSpPr txBox="1"/>
          <p:nvPr/>
        </p:nvSpPr>
        <p:spPr>
          <a:xfrm>
            <a:off x="6237854" y="1719072"/>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18" name="Text 16"/>
          <p:cNvSpPr txBox="1"/>
          <p:nvPr/>
        </p:nvSpPr>
        <p:spPr>
          <a:xfrm>
            <a:off x="5249753" y="2103120"/>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Falling boxes</a:t>
            </a:r>
            <a:endParaRPr lang="en-US" sz="1200" dirty="0"/>
          </a:p>
        </p:txBody>
      </p:sp>
      <p:sp>
        <p:nvSpPr>
          <p:cNvPr id="19" name="Shape 17"/>
          <p:cNvSpPr/>
          <p:nvPr/>
        </p:nvSpPr>
        <p:spPr>
          <a:xfrm>
            <a:off x="7307702" y="1554480"/>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20" name="Shape 18"/>
          <p:cNvSpPr/>
          <p:nvPr/>
        </p:nvSpPr>
        <p:spPr>
          <a:xfrm>
            <a:off x="7472294" y="1719072"/>
            <a:ext cx="310896" cy="310896"/>
          </a:xfrm>
          <a:prstGeom prst="ellipse">
            <a:avLst/>
          </a:prstGeom>
          <a:solidFill>
            <a:srgbClr val="C0182A"/>
          </a:solidFill>
          <a:ln/>
        </p:spPr>
      </p:sp>
      <p:sp>
        <p:nvSpPr>
          <p:cNvPr id="21" name="Text 19"/>
          <p:cNvSpPr txBox="1"/>
          <p:nvPr/>
        </p:nvSpPr>
        <p:spPr>
          <a:xfrm>
            <a:off x="7472294" y="1719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Text 20"/>
          <p:cNvSpPr txBox="1"/>
          <p:nvPr/>
        </p:nvSpPr>
        <p:spPr>
          <a:xfrm>
            <a:off x="8460395" y="1719072"/>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23" name="Text 21"/>
          <p:cNvSpPr txBox="1"/>
          <p:nvPr/>
        </p:nvSpPr>
        <p:spPr>
          <a:xfrm>
            <a:off x="7472294" y="2103120"/>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Damaged racking</a:t>
            </a:r>
            <a:endParaRPr lang="en-US" sz="1200" dirty="0"/>
          </a:p>
        </p:txBody>
      </p:sp>
      <p:sp>
        <p:nvSpPr>
          <p:cNvPr id="24" name="Shape 22"/>
          <p:cNvSpPr/>
          <p:nvPr/>
        </p:nvSpPr>
        <p:spPr>
          <a:xfrm>
            <a:off x="9530243" y="1554480"/>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25" name="Shape 23"/>
          <p:cNvSpPr/>
          <p:nvPr/>
        </p:nvSpPr>
        <p:spPr>
          <a:xfrm>
            <a:off x="9694835" y="1719072"/>
            <a:ext cx="310896" cy="310896"/>
          </a:xfrm>
          <a:prstGeom prst="ellipse">
            <a:avLst/>
          </a:prstGeom>
          <a:solidFill>
            <a:srgbClr val="F2B90C"/>
          </a:solidFill>
          <a:ln/>
        </p:spPr>
      </p:sp>
      <p:sp>
        <p:nvSpPr>
          <p:cNvPr id="26" name="Text 24"/>
          <p:cNvSpPr txBox="1"/>
          <p:nvPr/>
        </p:nvSpPr>
        <p:spPr>
          <a:xfrm>
            <a:off x="9694835" y="1719072"/>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5</a:t>
            </a:r>
            <a:endParaRPr lang="en-US" sz="1100" dirty="0"/>
          </a:p>
        </p:txBody>
      </p:sp>
      <p:sp>
        <p:nvSpPr>
          <p:cNvPr id="27" name="Text 25"/>
          <p:cNvSpPr txBox="1"/>
          <p:nvPr/>
        </p:nvSpPr>
        <p:spPr>
          <a:xfrm>
            <a:off x="10682935" y="1719072"/>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28" name="Text 26"/>
          <p:cNvSpPr txBox="1"/>
          <p:nvPr/>
        </p:nvSpPr>
        <p:spPr>
          <a:xfrm>
            <a:off x="9694835" y="2103120"/>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Unmarked spill</a:t>
            </a:r>
            <a:endParaRPr lang="en-US" sz="1200" dirty="0"/>
          </a:p>
        </p:txBody>
      </p:sp>
      <p:sp>
        <p:nvSpPr>
          <p:cNvPr id="29" name="Shape 27"/>
          <p:cNvSpPr/>
          <p:nvPr/>
        </p:nvSpPr>
        <p:spPr>
          <a:xfrm>
            <a:off x="640080" y="2807208"/>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30" name="Shape 28"/>
          <p:cNvSpPr/>
          <p:nvPr/>
        </p:nvSpPr>
        <p:spPr>
          <a:xfrm>
            <a:off x="804672" y="2971800"/>
            <a:ext cx="310896" cy="310896"/>
          </a:xfrm>
          <a:prstGeom prst="ellipse">
            <a:avLst/>
          </a:prstGeom>
          <a:solidFill>
            <a:srgbClr val="F2B90C"/>
          </a:solidFill>
          <a:ln/>
        </p:spPr>
      </p:sp>
      <p:sp>
        <p:nvSpPr>
          <p:cNvPr id="31" name="Text 29"/>
          <p:cNvSpPr txBox="1"/>
          <p:nvPr/>
        </p:nvSpPr>
        <p:spPr>
          <a:xfrm>
            <a:off x="804672" y="2971800"/>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6</a:t>
            </a:r>
            <a:endParaRPr lang="en-US" sz="1100" dirty="0"/>
          </a:p>
        </p:txBody>
      </p:sp>
      <p:sp>
        <p:nvSpPr>
          <p:cNvPr id="32" name="Text 30"/>
          <p:cNvSpPr txBox="1"/>
          <p:nvPr/>
        </p:nvSpPr>
        <p:spPr>
          <a:xfrm>
            <a:off x="1792773" y="2971800"/>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33" name="Text 31"/>
          <p:cNvSpPr txBox="1"/>
          <p:nvPr/>
        </p:nvSpPr>
        <p:spPr>
          <a:xfrm>
            <a:off x="804672" y="3355848"/>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Blocked walkway</a:t>
            </a:r>
            <a:endParaRPr lang="en-US" sz="1200" dirty="0"/>
          </a:p>
        </p:txBody>
      </p:sp>
      <p:sp>
        <p:nvSpPr>
          <p:cNvPr id="34" name="Shape 32"/>
          <p:cNvSpPr/>
          <p:nvPr/>
        </p:nvSpPr>
        <p:spPr>
          <a:xfrm>
            <a:off x="2862621" y="2807208"/>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35" name="Shape 33"/>
          <p:cNvSpPr/>
          <p:nvPr/>
        </p:nvSpPr>
        <p:spPr>
          <a:xfrm>
            <a:off x="3027213" y="2971800"/>
            <a:ext cx="310896" cy="310896"/>
          </a:xfrm>
          <a:prstGeom prst="ellipse">
            <a:avLst/>
          </a:prstGeom>
          <a:solidFill>
            <a:srgbClr val="C0182A"/>
          </a:solidFill>
          <a:ln/>
        </p:spPr>
      </p:sp>
      <p:sp>
        <p:nvSpPr>
          <p:cNvPr id="36" name="Text 34"/>
          <p:cNvSpPr txBox="1"/>
          <p:nvPr/>
        </p:nvSpPr>
        <p:spPr>
          <a:xfrm>
            <a:off x="3027213" y="2971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37" name="Text 35"/>
          <p:cNvSpPr txBox="1"/>
          <p:nvPr/>
        </p:nvSpPr>
        <p:spPr>
          <a:xfrm>
            <a:off x="4015313" y="2971800"/>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38" name="Text 36"/>
          <p:cNvSpPr txBox="1"/>
          <p:nvPr/>
        </p:nvSpPr>
        <p:spPr>
          <a:xfrm>
            <a:off x="3027213" y="3355848"/>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Blocked fire exit</a:t>
            </a:r>
            <a:endParaRPr lang="en-US" sz="1200" dirty="0"/>
          </a:p>
        </p:txBody>
      </p:sp>
      <p:sp>
        <p:nvSpPr>
          <p:cNvPr id="39" name="Shape 37"/>
          <p:cNvSpPr/>
          <p:nvPr/>
        </p:nvSpPr>
        <p:spPr>
          <a:xfrm>
            <a:off x="5085161" y="2807208"/>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40" name="Shape 38"/>
          <p:cNvSpPr/>
          <p:nvPr/>
        </p:nvSpPr>
        <p:spPr>
          <a:xfrm>
            <a:off x="5249753" y="2971800"/>
            <a:ext cx="310896" cy="310896"/>
          </a:xfrm>
          <a:prstGeom prst="ellipse">
            <a:avLst/>
          </a:prstGeom>
          <a:solidFill>
            <a:srgbClr val="F2B90C"/>
          </a:solidFill>
          <a:ln/>
        </p:spPr>
      </p:sp>
      <p:sp>
        <p:nvSpPr>
          <p:cNvPr id="41" name="Text 39"/>
          <p:cNvSpPr txBox="1"/>
          <p:nvPr/>
        </p:nvSpPr>
        <p:spPr>
          <a:xfrm>
            <a:off x="5249753" y="2971800"/>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8</a:t>
            </a:r>
            <a:endParaRPr lang="en-US" sz="1100" dirty="0"/>
          </a:p>
        </p:txBody>
      </p:sp>
      <p:sp>
        <p:nvSpPr>
          <p:cNvPr id="42" name="Text 40"/>
          <p:cNvSpPr txBox="1"/>
          <p:nvPr/>
        </p:nvSpPr>
        <p:spPr>
          <a:xfrm>
            <a:off x="6237854" y="2971800"/>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43" name="Text 41"/>
          <p:cNvSpPr txBox="1"/>
          <p:nvPr/>
        </p:nvSpPr>
        <p:spPr>
          <a:xfrm>
            <a:off x="5249753" y="3355848"/>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Blocked extinguisher</a:t>
            </a:r>
            <a:endParaRPr lang="en-US" sz="1200" dirty="0"/>
          </a:p>
        </p:txBody>
      </p:sp>
      <p:sp>
        <p:nvSpPr>
          <p:cNvPr id="44" name="Shape 42"/>
          <p:cNvSpPr/>
          <p:nvPr/>
        </p:nvSpPr>
        <p:spPr>
          <a:xfrm>
            <a:off x="7307702" y="2807208"/>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45" name="Shape 43"/>
          <p:cNvSpPr/>
          <p:nvPr/>
        </p:nvSpPr>
        <p:spPr>
          <a:xfrm>
            <a:off x="7472294" y="2971800"/>
            <a:ext cx="310896" cy="310896"/>
          </a:xfrm>
          <a:prstGeom prst="ellipse">
            <a:avLst/>
          </a:prstGeom>
          <a:solidFill>
            <a:srgbClr val="F2B90C"/>
          </a:solidFill>
          <a:ln/>
        </p:spPr>
      </p:sp>
      <p:sp>
        <p:nvSpPr>
          <p:cNvPr id="46" name="Text 44"/>
          <p:cNvSpPr txBox="1"/>
          <p:nvPr/>
        </p:nvSpPr>
        <p:spPr>
          <a:xfrm>
            <a:off x="7472294" y="2971800"/>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9</a:t>
            </a:r>
            <a:endParaRPr lang="en-US" sz="1100" dirty="0"/>
          </a:p>
        </p:txBody>
      </p:sp>
      <p:sp>
        <p:nvSpPr>
          <p:cNvPr id="47" name="Text 45"/>
          <p:cNvSpPr txBox="1"/>
          <p:nvPr/>
        </p:nvSpPr>
        <p:spPr>
          <a:xfrm>
            <a:off x="8460395" y="2971800"/>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48" name="Text 46"/>
          <p:cNvSpPr txBox="1"/>
          <p:nvPr/>
        </p:nvSpPr>
        <p:spPr>
          <a:xfrm>
            <a:off x="7472294" y="3355848"/>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Worker without PPE</a:t>
            </a:r>
            <a:endParaRPr lang="en-US" sz="1200" dirty="0"/>
          </a:p>
        </p:txBody>
      </p:sp>
      <p:sp>
        <p:nvSpPr>
          <p:cNvPr id="49" name="Shape 47"/>
          <p:cNvSpPr/>
          <p:nvPr/>
        </p:nvSpPr>
        <p:spPr>
          <a:xfrm>
            <a:off x="9530243" y="2807208"/>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50" name="Shape 48"/>
          <p:cNvSpPr/>
          <p:nvPr/>
        </p:nvSpPr>
        <p:spPr>
          <a:xfrm>
            <a:off x="9694835" y="2971800"/>
            <a:ext cx="310896" cy="310896"/>
          </a:xfrm>
          <a:prstGeom prst="ellipse">
            <a:avLst/>
          </a:prstGeom>
          <a:solidFill>
            <a:srgbClr val="C0182A"/>
          </a:solidFill>
          <a:ln/>
        </p:spPr>
      </p:sp>
      <p:sp>
        <p:nvSpPr>
          <p:cNvPr id="51" name="Text 49"/>
          <p:cNvSpPr txBox="1"/>
          <p:nvPr/>
        </p:nvSpPr>
        <p:spPr>
          <a:xfrm>
            <a:off x="9694835" y="2971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10</a:t>
            </a:r>
            <a:endParaRPr lang="en-US" sz="1100" dirty="0"/>
          </a:p>
        </p:txBody>
      </p:sp>
      <p:sp>
        <p:nvSpPr>
          <p:cNvPr id="52" name="Text 50"/>
          <p:cNvSpPr txBox="1"/>
          <p:nvPr/>
        </p:nvSpPr>
        <p:spPr>
          <a:xfrm>
            <a:off x="10682935" y="2971800"/>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53" name="Text 51"/>
          <p:cNvSpPr txBox="1"/>
          <p:nvPr/>
        </p:nvSpPr>
        <p:spPr>
          <a:xfrm>
            <a:off x="9694835" y="3355848"/>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Open dock edge</a:t>
            </a:r>
            <a:endParaRPr lang="en-US" sz="1200" dirty="0"/>
          </a:p>
        </p:txBody>
      </p:sp>
      <p:sp>
        <p:nvSpPr>
          <p:cNvPr id="54" name="Shape 52"/>
          <p:cNvSpPr/>
          <p:nvPr/>
        </p:nvSpPr>
        <p:spPr>
          <a:xfrm>
            <a:off x="640080" y="4059936"/>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55" name="Shape 53"/>
          <p:cNvSpPr/>
          <p:nvPr/>
        </p:nvSpPr>
        <p:spPr>
          <a:xfrm>
            <a:off x="804672" y="4224528"/>
            <a:ext cx="310896" cy="310896"/>
          </a:xfrm>
          <a:prstGeom prst="ellipse">
            <a:avLst/>
          </a:prstGeom>
          <a:solidFill>
            <a:srgbClr val="F2B90C"/>
          </a:solidFill>
          <a:ln/>
        </p:spPr>
      </p:sp>
      <p:sp>
        <p:nvSpPr>
          <p:cNvPr id="56" name="Text 54"/>
          <p:cNvSpPr txBox="1"/>
          <p:nvPr/>
        </p:nvSpPr>
        <p:spPr>
          <a:xfrm>
            <a:off x="804672" y="4224528"/>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11</a:t>
            </a:r>
            <a:endParaRPr lang="en-US" sz="1100" dirty="0"/>
          </a:p>
        </p:txBody>
      </p:sp>
      <p:sp>
        <p:nvSpPr>
          <p:cNvPr id="57" name="Text 55"/>
          <p:cNvSpPr txBox="1"/>
          <p:nvPr/>
        </p:nvSpPr>
        <p:spPr>
          <a:xfrm>
            <a:off x="1792773" y="4224528"/>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58" name="Text 56"/>
          <p:cNvSpPr txBox="1"/>
          <p:nvPr/>
        </p:nvSpPr>
        <p:spPr>
          <a:xfrm>
            <a:off x="804672" y="4608576"/>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Trailing cable</a:t>
            </a:r>
            <a:endParaRPr lang="en-US" sz="1200" dirty="0"/>
          </a:p>
        </p:txBody>
      </p:sp>
      <p:sp>
        <p:nvSpPr>
          <p:cNvPr id="59" name="Shape 57"/>
          <p:cNvSpPr/>
          <p:nvPr/>
        </p:nvSpPr>
        <p:spPr>
          <a:xfrm>
            <a:off x="2862621" y="4059936"/>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60" name="Shape 58"/>
          <p:cNvSpPr/>
          <p:nvPr/>
        </p:nvSpPr>
        <p:spPr>
          <a:xfrm>
            <a:off x="3027213" y="4224528"/>
            <a:ext cx="310896" cy="310896"/>
          </a:xfrm>
          <a:prstGeom prst="ellipse">
            <a:avLst/>
          </a:prstGeom>
          <a:solidFill>
            <a:srgbClr val="F2B90C"/>
          </a:solidFill>
          <a:ln/>
        </p:spPr>
      </p:sp>
      <p:sp>
        <p:nvSpPr>
          <p:cNvPr id="61" name="Text 59"/>
          <p:cNvSpPr txBox="1"/>
          <p:nvPr/>
        </p:nvSpPr>
        <p:spPr>
          <a:xfrm>
            <a:off x="3027213" y="4224528"/>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12</a:t>
            </a:r>
            <a:endParaRPr lang="en-US" sz="1100" dirty="0"/>
          </a:p>
        </p:txBody>
      </p:sp>
      <p:sp>
        <p:nvSpPr>
          <p:cNvPr id="62" name="Text 60"/>
          <p:cNvSpPr txBox="1"/>
          <p:nvPr/>
        </p:nvSpPr>
        <p:spPr>
          <a:xfrm>
            <a:off x="4015313" y="4224528"/>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63" name="Text 61"/>
          <p:cNvSpPr txBox="1"/>
          <p:nvPr/>
        </p:nvSpPr>
        <p:spPr>
          <a:xfrm>
            <a:off x="3027213" y="4608576"/>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Broken pallet</a:t>
            </a:r>
            <a:endParaRPr lang="en-US" sz="1200" dirty="0"/>
          </a:p>
        </p:txBody>
      </p:sp>
      <p:sp>
        <p:nvSpPr>
          <p:cNvPr id="64" name="Shape 62"/>
          <p:cNvSpPr/>
          <p:nvPr/>
        </p:nvSpPr>
        <p:spPr>
          <a:xfrm>
            <a:off x="5085161" y="4059936"/>
            <a:ext cx="2021373" cy="1051560"/>
          </a:xfrm>
          <a:prstGeom prst="roundRect">
            <a:avLst>
              <a:gd name="adj" fmla="val 6957"/>
            </a:avLst>
          </a:prstGeom>
          <a:solidFill>
            <a:srgbClr val="F1F3F5"/>
          </a:solidFill>
          <a:ln w="12700">
            <a:solidFill>
              <a:srgbClr val="DFE3E7"/>
            </a:solidFill>
            <a:prstDash val="solid"/>
          </a:ln>
          <a:effectLst>
            <a:outerShdw sx="100000" sy="100000" kx="0" ky="0" algn="bl" rotWithShape="0" blurRad="101600" dist="508" dir="5400000">
              <a:srgbClr val="000000">
                <a:alpha val="10000"/>
              </a:srgbClr>
            </a:outerShdw>
          </a:effectLst>
        </p:spPr>
      </p:sp>
      <p:sp>
        <p:nvSpPr>
          <p:cNvPr id="65" name="Shape 63"/>
          <p:cNvSpPr/>
          <p:nvPr/>
        </p:nvSpPr>
        <p:spPr>
          <a:xfrm>
            <a:off x="5249753" y="4224528"/>
            <a:ext cx="310896" cy="310896"/>
          </a:xfrm>
          <a:prstGeom prst="ellipse">
            <a:avLst/>
          </a:prstGeom>
          <a:solidFill>
            <a:srgbClr val="F2B90C"/>
          </a:solidFill>
          <a:ln/>
        </p:spPr>
      </p:sp>
      <p:sp>
        <p:nvSpPr>
          <p:cNvPr id="66" name="Text 64"/>
          <p:cNvSpPr txBox="1"/>
          <p:nvPr/>
        </p:nvSpPr>
        <p:spPr>
          <a:xfrm>
            <a:off x="5249753" y="4224528"/>
            <a:ext cx="310896" cy="310896"/>
          </a:xfrm>
          <a:prstGeom prst="rect">
            <a:avLst/>
          </a:prstGeom>
          <a:noFill/>
          <a:ln/>
        </p:spPr>
        <p:txBody>
          <a:bodyPr wrap="square" lIns="0" tIns="0" rIns="0" bIns="0" rtlCol="0" anchor="ctr"/>
          <a:lstStyle/>
          <a:p>
            <a:pPr algn="ctr" indent="0" marL="0">
              <a:buNone/>
            </a:pPr>
            <a:r>
              <a:rPr lang="en-US" sz="1100" b="1" dirty="0">
                <a:solidFill>
                  <a:srgbClr val="14181C"/>
                </a:solidFill>
                <a:latin typeface="Arial" pitchFamily="34" charset="0"/>
                <a:ea typeface="Arial" pitchFamily="34" charset="-122"/>
                <a:cs typeface="Arial" pitchFamily="34" charset="-120"/>
              </a:rPr>
              <a:t>13</a:t>
            </a:r>
            <a:endParaRPr lang="en-US" sz="1100" dirty="0"/>
          </a:p>
        </p:txBody>
      </p:sp>
      <p:sp>
        <p:nvSpPr>
          <p:cNvPr id="67" name="Text 65"/>
          <p:cNvSpPr txBox="1"/>
          <p:nvPr/>
        </p:nvSpPr>
        <p:spPr>
          <a:xfrm>
            <a:off x="6237854" y="4224528"/>
            <a:ext cx="713232" cy="256032"/>
          </a:xfrm>
          <a:prstGeom prst="rect">
            <a:avLst/>
          </a:prstGeom>
          <a:noFill/>
          <a:ln/>
        </p:spPr>
        <p:txBody>
          <a:bodyPr wrap="square" lIns="0" tIns="0" rIns="0" bIns="0" rtlCol="0" anchor="ctr"/>
          <a:lstStyle/>
          <a:p>
            <a:pPr algn="r" indent="0" marL="0">
              <a:buNone/>
            </a:pPr>
            <a:r>
              <a:rPr lang="en-US" sz="800" b="1" dirty="0">
                <a:solidFill>
                  <a:srgbClr val="E07B12"/>
                </a:solidFill>
                <a:latin typeface="Calibri" pitchFamily="34" charset="0"/>
                <a:ea typeface="Calibri" pitchFamily="34" charset="-122"/>
                <a:cs typeface="Calibri" pitchFamily="34" charset="-120"/>
              </a:rPr>
              <a:t>MINOR</a:t>
            </a:r>
            <a:endParaRPr lang="en-US" sz="800" dirty="0"/>
          </a:p>
        </p:txBody>
      </p:sp>
      <p:sp>
        <p:nvSpPr>
          <p:cNvPr id="68" name="Text 66"/>
          <p:cNvSpPr txBox="1"/>
          <p:nvPr/>
        </p:nvSpPr>
        <p:spPr>
          <a:xfrm>
            <a:off x="5249753" y="4608576"/>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Over-height stack</a:t>
            </a:r>
            <a:endParaRPr lang="en-US" sz="1200" dirty="0"/>
          </a:p>
        </p:txBody>
      </p:sp>
      <p:sp>
        <p:nvSpPr>
          <p:cNvPr id="69" name="Shape 67"/>
          <p:cNvSpPr/>
          <p:nvPr/>
        </p:nvSpPr>
        <p:spPr>
          <a:xfrm>
            <a:off x="7307702" y="4059936"/>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70" name="Shape 68"/>
          <p:cNvSpPr/>
          <p:nvPr/>
        </p:nvSpPr>
        <p:spPr>
          <a:xfrm>
            <a:off x="7472294" y="4224528"/>
            <a:ext cx="310896" cy="310896"/>
          </a:xfrm>
          <a:prstGeom prst="ellipse">
            <a:avLst/>
          </a:prstGeom>
          <a:solidFill>
            <a:srgbClr val="C0182A"/>
          </a:solidFill>
          <a:ln/>
        </p:spPr>
      </p:sp>
      <p:sp>
        <p:nvSpPr>
          <p:cNvPr id="71" name="Text 69"/>
          <p:cNvSpPr txBox="1"/>
          <p:nvPr/>
        </p:nvSpPr>
        <p:spPr>
          <a:xfrm>
            <a:off x="7472294" y="4224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14</a:t>
            </a:r>
            <a:endParaRPr lang="en-US" sz="1100" dirty="0"/>
          </a:p>
        </p:txBody>
      </p:sp>
      <p:sp>
        <p:nvSpPr>
          <p:cNvPr id="72" name="Text 70"/>
          <p:cNvSpPr txBox="1"/>
          <p:nvPr/>
        </p:nvSpPr>
        <p:spPr>
          <a:xfrm>
            <a:off x="8460395" y="4224528"/>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73" name="Text 71"/>
          <p:cNvSpPr txBox="1"/>
          <p:nvPr/>
        </p:nvSpPr>
        <p:spPr>
          <a:xfrm>
            <a:off x="7472294" y="4608576"/>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Unsafe ladder</a:t>
            </a:r>
            <a:endParaRPr lang="en-US" sz="1200" dirty="0"/>
          </a:p>
        </p:txBody>
      </p:sp>
      <p:sp>
        <p:nvSpPr>
          <p:cNvPr id="74" name="Shape 72"/>
          <p:cNvSpPr/>
          <p:nvPr/>
        </p:nvSpPr>
        <p:spPr>
          <a:xfrm>
            <a:off x="9530243" y="4059936"/>
            <a:ext cx="2021373" cy="1051560"/>
          </a:xfrm>
          <a:prstGeom prst="roundRect">
            <a:avLst>
              <a:gd name="adj" fmla="val 6957"/>
            </a:avLst>
          </a:prstGeom>
          <a:solidFill>
            <a:srgbClr val="FDF0F1"/>
          </a:solidFill>
          <a:ln w="12700">
            <a:solidFill>
              <a:srgbClr val="EFC9CE"/>
            </a:solidFill>
            <a:prstDash val="solid"/>
          </a:ln>
          <a:effectLst>
            <a:outerShdw sx="100000" sy="100000" kx="0" ky="0" algn="bl" rotWithShape="0" blurRad="101600" dist="508" dir="5400000">
              <a:srgbClr val="000000">
                <a:alpha val="10000"/>
              </a:srgbClr>
            </a:outerShdw>
          </a:effectLst>
        </p:spPr>
      </p:sp>
      <p:sp>
        <p:nvSpPr>
          <p:cNvPr id="75" name="Shape 73"/>
          <p:cNvSpPr/>
          <p:nvPr/>
        </p:nvSpPr>
        <p:spPr>
          <a:xfrm>
            <a:off x="9694835" y="4224528"/>
            <a:ext cx="310896" cy="310896"/>
          </a:xfrm>
          <a:prstGeom prst="ellipse">
            <a:avLst/>
          </a:prstGeom>
          <a:solidFill>
            <a:srgbClr val="C0182A"/>
          </a:solidFill>
          <a:ln/>
        </p:spPr>
      </p:sp>
      <p:sp>
        <p:nvSpPr>
          <p:cNvPr id="76" name="Text 74"/>
          <p:cNvSpPr txBox="1"/>
          <p:nvPr/>
        </p:nvSpPr>
        <p:spPr>
          <a:xfrm>
            <a:off x="9694835" y="42245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15</a:t>
            </a:r>
            <a:endParaRPr lang="en-US" sz="1100" dirty="0"/>
          </a:p>
        </p:txBody>
      </p:sp>
      <p:sp>
        <p:nvSpPr>
          <p:cNvPr id="77" name="Text 75"/>
          <p:cNvSpPr txBox="1"/>
          <p:nvPr/>
        </p:nvSpPr>
        <p:spPr>
          <a:xfrm>
            <a:off x="10682935" y="4224528"/>
            <a:ext cx="713232" cy="256032"/>
          </a:xfrm>
          <a:prstGeom prst="rect">
            <a:avLst/>
          </a:prstGeom>
          <a:noFill/>
          <a:ln/>
        </p:spPr>
        <p:txBody>
          <a:bodyPr wrap="square" lIns="0" tIns="0" rIns="0" bIns="0" rtlCol="0" anchor="ctr"/>
          <a:lstStyle/>
          <a:p>
            <a:pPr algn="r" indent="0" marL="0">
              <a:buNone/>
            </a:pPr>
            <a:r>
              <a:rPr lang="en-US" sz="800" b="1" dirty="0">
                <a:solidFill>
                  <a:srgbClr val="C0182A"/>
                </a:solidFill>
                <a:latin typeface="Calibri" pitchFamily="34" charset="0"/>
                <a:ea typeface="Calibri" pitchFamily="34" charset="-122"/>
                <a:cs typeface="Calibri" pitchFamily="34" charset="-120"/>
              </a:rPr>
              <a:t>MAJOR</a:t>
            </a:r>
            <a:endParaRPr lang="en-US" sz="800" dirty="0"/>
          </a:p>
        </p:txBody>
      </p:sp>
      <p:sp>
        <p:nvSpPr>
          <p:cNvPr id="78" name="Text 76"/>
          <p:cNvSpPr txBox="1"/>
          <p:nvPr/>
        </p:nvSpPr>
        <p:spPr>
          <a:xfrm>
            <a:off x="9694835" y="4608576"/>
            <a:ext cx="1692189" cy="411480"/>
          </a:xfrm>
          <a:prstGeom prst="rect">
            <a:avLst/>
          </a:prstGeom>
          <a:noFill/>
          <a:ln/>
        </p:spPr>
        <p:txBody>
          <a:bodyPr wrap="square" lIns="0" tIns="0" rIns="0" bIns="0" rtlCol="0" anchor="t"/>
          <a:lstStyle/>
          <a:p>
            <a:pPr indent="0" marL="0">
              <a:buNone/>
            </a:pPr>
            <a:r>
              <a:rPr lang="en-US" sz="1200" b="1" dirty="0">
                <a:solidFill>
                  <a:srgbClr val="14181C"/>
                </a:solidFill>
                <a:latin typeface="Calibri" pitchFamily="34" charset="0"/>
                <a:ea typeface="Calibri" pitchFamily="34" charset="-122"/>
                <a:cs typeface="Calibri" pitchFamily="34" charset="-120"/>
              </a:rPr>
              <a:t>Blind corner</a:t>
            </a:r>
            <a:endParaRPr lang="en-US" sz="1200" dirty="0"/>
          </a:p>
        </p:txBody>
      </p:sp>
      <p:sp>
        <p:nvSpPr>
          <p:cNvPr id="79" name="Text 77"/>
          <p:cNvSpPr txBox="1"/>
          <p:nvPr/>
        </p:nvSpPr>
        <p:spPr>
          <a:xfrm>
            <a:off x="640080" y="5623560"/>
            <a:ext cx="10911535" cy="365760"/>
          </a:xfrm>
          <a:prstGeom prst="rect">
            <a:avLst/>
          </a:prstGeom>
          <a:noFill/>
          <a:ln/>
        </p:spPr>
        <p:txBody>
          <a:bodyPr wrap="square" lIns="0" tIns="0" rIns="0" bIns="0" rtlCol="0" anchor="ctr"/>
          <a:lstStyle/>
          <a:p>
            <a:pPr indent="0" marL="0">
              <a:buNone/>
            </a:pPr>
            <a:r>
              <a:rPr lang="en-US" sz="1300" dirty="0">
                <a:solidFill>
                  <a:srgbClr val="6B747D"/>
                </a:solidFill>
                <a:latin typeface="Calibri" pitchFamily="34" charset="0"/>
                <a:ea typeface="Calibri" pitchFamily="34" charset="-122"/>
                <a:cs typeface="Calibri" pitchFamily="34" charset="-120"/>
              </a:rPr>
              <a:t>8 major  ·  7 minor      Each carries a description, why it is dangerous, the correct control, and teaching text.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WHAT MAKES IT TEACH</a:t>
            </a:r>
            <a:endParaRPr lang="en-US" sz="1200" dirty="0"/>
          </a:p>
        </p:txBody>
      </p:sp>
      <p:sp>
        <p:nvSpPr>
          <p:cNvPr id="3" name="Text 1"/>
          <p:cNvSpPr txBox="1"/>
          <p:nvPr/>
        </p:nvSpPr>
        <p:spPr>
          <a:xfrm>
            <a:off x="640080" y="676656"/>
            <a:ext cx="10911535" cy="1143000"/>
          </a:xfrm>
          <a:prstGeom prst="rect">
            <a:avLst/>
          </a:prstGeom>
          <a:noFill/>
          <a:ln/>
        </p:spPr>
        <p:txBody>
          <a:bodyPr wrap="square" lIns="0" tIns="0" rIns="0" bIns="0" rtlCol="0" anchor="ctr"/>
          <a:lstStyle/>
          <a:p>
            <a:pPr algn="l" indent="0" marL="0">
              <a:buNone/>
            </a:pPr>
            <a:r>
              <a:rPr lang="en-US" sz="2700" b="1" dirty="0">
                <a:solidFill>
                  <a:srgbClr val="14181C"/>
                </a:solidFill>
                <a:latin typeface="Arial" pitchFamily="34" charset="0"/>
                <a:ea typeface="Arial" pitchFamily="34" charset="-122"/>
                <a:cs typeface="Arial" pitchFamily="34" charset="-120"/>
              </a:rPr>
              <a:t>We also build the things that look wrong</a:t>
            </a:r>
            <a:endParaRPr lang="en-US" sz="2700" dirty="0"/>
          </a:p>
          <a:p>
            <a:pPr algn="l" indent="0" marL="0">
              <a:buNone/>
            </a:pPr>
            <a:r>
              <a:rPr lang="en-US" sz="2700" b="1" dirty="0">
                <a:solidFill>
                  <a:srgbClr val="14181C"/>
                </a:solidFill>
                <a:latin typeface="Arial" pitchFamily="34" charset="0"/>
                <a:ea typeface="Arial" pitchFamily="34" charset="-122"/>
                <a:cs typeface="Arial" pitchFamily="34" charset="-120"/>
              </a:rPr>
              <a:t>but are actually right</a:t>
            </a:r>
            <a:endParaRPr lang="en-US" sz="2700" dirty="0"/>
          </a:p>
        </p:txBody>
      </p:sp>
      <p:sp>
        <p:nvSpPr>
          <p:cNvPr id="4" name="Text 2"/>
          <p:cNvSpPr txBox="1"/>
          <p:nvPr/>
        </p:nvSpPr>
        <p:spPr>
          <a:xfrm>
            <a:off x="640080" y="1828800"/>
            <a:ext cx="6583680" cy="1097280"/>
          </a:xfrm>
          <a:prstGeom prst="rect">
            <a:avLst/>
          </a:prstGeom>
          <a:noFill/>
          <a:ln/>
        </p:spPr>
        <p:txBody>
          <a:bodyPr wrap="square" lIns="0" tIns="0" rIns="0" bIns="0" rtlCol="0" anchor="t"/>
          <a:lstStyle/>
          <a:p>
            <a:pPr algn="l" indent="0" marL="0">
              <a:lnSpc>
                <a:spcPct val="120000"/>
              </a:lnSpc>
              <a:buNone/>
            </a:pPr>
            <a:r>
              <a:rPr lang="en-US" sz="1400" dirty="0">
                <a:solidFill>
                  <a:srgbClr val="3C444C"/>
                </a:solidFill>
                <a:latin typeface="Calibri" pitchFamily="34" charset="0"/>
                <a:ea typeface="Calibri" pitchFamily="34" charset="-122"/>
                <a:cs typeface="Calibri" pitchFamily="34" charset="-120"/>
              </a:rPr>
              <a:t>Real hazard spotting is discrimination, not detection. A trainee who flags everything has learned nothing — so the warehouse is seeded with correctly-controlled lookalikes. Flagging one is scored wrong, and the game explains why it is fine.</a:t>
            </a:r>
            <a:endParaRPr lang="en-US" sz="1400" dirty="0"/>
          </a:p>
        </p:txBody>
      </p:sp>
      <p:sp>
        <p:nvSpPr>
          <p:cNvPr id="5" name="Text 3"/>
          <p:cNvSpPr txBox="1"/>
          <p:nvPr/>
        </p:nvSpPr>
        <p:spPr>
          <a:xfrm>
            <a:off x="640080" y="3108960"/>
            <a:ext cx="3108960" cy="274320"/>
          </a:xfrm>
          <a:prstGeom prst="rect">
            <a:avLst/>
          </a:prstGeom>
          <a:noFill/>
          <a:ln/>
        </p:spPr>
        <p:txBody>
          <a:bodyPr wrap="square" lIns="0" tIns="0" rIns="0" bIns="0" rtlCol="0" anchor="ctr"/>
          <a:lstStyle/>
          <a:p>
            <a:pPr indent="0" marL="0">
              <a:buNone/>
            </a:pPr>
            <a:r>
              <a:rPr lang="en-US" sz="1000" b="1" spc="150" kern="0" dirty="0">
                <a:solidFill>
                  <a:srgbClr val="C0182A"/>
                </a:solidFill>
                <a:latin typeface="Calibri" pitchFamily="34" charset="0"/>
                <a:ea typeface="Calibri" pitchFamily="34" charset="-122"/>
                <a:cs typeface="Calibri" pitchFamily="34" charset="-120"/>
              </a:rPr>
              <a:t>HAZARD</a:t>
            </a:r>
            <a:endParaRPr lang="en-US" sz="1000" dirty="0"/>
          </a:p>
        </p:txBody>
      </p:sp>
      <p:sp>
        <p:nvSpPr>
          <p:cNvPr id="6" name="Text 4"/>
          <p:cNvSpPr txBox="1"/>
          <p:nvPr/>
        </p:nvSpPr>
        <p:spPr>
          <a:xfrm>
            <a:off x="4114800" y="3108960"/>
            <a:ext cx="4114800" cy="274320"/>
          </a:xfrm>
          <a:prstGeom prst="rect">
            <a:avLst/>
          </a:prstGeom>
          <a:noFill/>
          <a:ln/>
        </p:spPr>
        <p:txBody>
          <a:bodyPr wrap="square" lIns="0" tIns="0" rIns="0" bIns="0" rtlCol="0" anchor="ctr"/>
          <a:lstStyle/>
          <a:p>
            <a:pPr indent="0" marL="0">
              <a:buNone/>
            </a:pPr>
            <a:r>
              <a:rPr lang="en-US" sz="1000" b="1" spc="150" kern="0" dirty="0">
                <a:solidFill>
                  <a:srgbClr val="1F8A4C"/>
                </a:solidFill>
                <a:latin typeface="Calibri" pitchFamily="34" charset="0"/>
                <a:ea typeface="Calibri" pitchFamily="34" charset="-122"/>
                <a:cs typeface="Calibri" pitchFamily="34" charset="-120"/>
              </a:rPr>
              <a:t>CORRECTLY CONTROLLED  (a wrong answer)</a:t>
            </a:r>
            <a:endParaRPr lang="en-US" sz="1000" dirty="0"/>
          </a:p>
        </p:txBody>
      </p:sp>
      <p:sp>
        <p:nvSpPr>
          <p:cNvPr id="7" name="Shape 5"/>
          <p:cNvSpPr/>
          <p:nvPr/>
        </p:nvSpPr>
        <p:spPr>
          <a:xfrm>
            <a:off x="640080" y="3456432"/>
            <a:ext cx="3108960" cy="502920"/>
          </a:xfrm>
          <a:prstGeom prst="roundRect">
            <a:avLst>
              <a:gd name="adj" fmla="val 14545"/>
            </a:avLst>
          </a:prstGeom>
          <a:solidFill>
            <a:srgbClr val="FDF0F1"/>
          </a:solidFill>
          <a:ln/>
        </p:spPr>
      </p:sp>
      <p:sp>
        <p:nvSpPr>
          <p:cNvPr id="8" name="Text 6"/>
          <p:cNvSpPr txBox="1"/>
          <p:nvPr/>
        </p:nvSpPr>
        <p:spPr>
          <a:xfrm>
            <a:off x="804672" y="3593592"/>
            <a:ext cx="278892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Unmarked spill on the floor</a:t>
            </a:r>
            <a:endParaRPr lang="en-US" sz="1150" dirty="0"/>
          </a:p>
        </p:txBody>
      </p:sp>
      <p:sp>
        <p:nvSpPr>
          <p:cNvPr id="9" name="Text 7"/>
          <p:cNvSpPr txBox="1"/>
          <p:nvPr/>
        </p:nvSpPr>
        <p:spPr>
          <a:xfrm>
            <a:off x="3794760" y="3456432"/>
            <a:ext cx="274320" cy="502920"/>
          </a:xfrm>
          <a:prstGeom prst="rect">
            <a:avLst/>
          </a:prstGeom>
          <a:noFill/>
          <a:ln/>
        </p:spPr>
        <p:txBody>
          <a:bodyPr wrap="square" lIns="0" tIns="0" rIns="0" bIns="0" rtlCol="0" anchor="ctr"/>
          <a:lstStyle/>
          <a:p>
            <a:pPr algn="ctr" indent="0" marL="0">
              <a:buNone/>
            </a:pPr>
            <a:r>
              <a:rPr lang="en-US" sz="1000" i="1" dirty="0">
                <a:solidFill>
                  <a:srgbClr val="6B747D"/>
                </a:solidFill>
                <a:latin typeface="Calibri" pitchFamily="34" charset="0"/>
                <a:ea typeface="Calibri" pitchFamily="34" charset="-122"/>
                <a:cs typeface="Calibri" pitchFamily="34" charset="-120"/>
              </a:rPr>
              <a:t>vs</a:t>
            </a:r>
            <a:endParaRPr lang="en-US" sz="1000" dirty="0"/>
          </a:p>
        </p:txBody>
      </p:sp>
      <p:sp>
        <p:nvSpPr>
          <p:cNvPr id="10" name="Shape 8"/>
          <p:cNvSpPr/>
          <p:nvPr/>
        </p:nvSpPr>
        <p:spPr>
          <a:xfrm>
            <a:off x="4114800" y="3456432"/>
            <a:ext cx="4114800" cy="502920"/>
          </a:xfrm>
          <a:prstGeom prst="roundRect">
            <a:avLst>
              <a:gd name="adj" fmla="val 14545"/>
            </a:avLst>
          </a:prstGeom>
          <a:solidFill>
            <a:srgbClr val="E8F5EC"/>
          </a:solidFill>
          <a:ln/>
        </p:spPr>
      </p:sp>
      <p:sp>
        <p:nvSpPr>
          <p:cNvPr id="11" name="Text 9"/>
          <p:cNvSpPr txBox="1"/>
          <p:nvPr/>
        </p:nvSpPr>
        <p:spPr>
          <a:xfrm>
            <a:off x="4279392" y="3593592"/>
            <a:ext cx="379476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A spill that IS coned and signed</a:t>
            </a:r>
            <a:endParaRPr lang="en-US" sz="1150" dirty="0"/>
          </a:p>
        </p:txBody>
      </p:sp>
      <p:sp>
        <p:nvSpPr>
          <p:cNvPr id="12" name="Shape 10"/>
          <p:cNvSpPr/>
          <p:nvPr/>
        </p:nvSpPr>
        <p:spPr>
          <a:xfrm>
            <a:off x="640080" y="4059936"/>
            <a:ext cx="3108960" cy="502920"/>
          </a:xfrm>
          <a:prstGeom prst="roundRect">
            <a:avLst>
              <a:gd name="adj" fmla="val 14545"/>
            </a:avLst>
          </a:prstGeom>
          <a:solidFill>
            <a:srgbClr val="FDF0F1"/>
          </a:solidFill>
          <a:ln/>
        </p:spPr>
      </p:sp>
      <p:sp>
        <p:nvSpPr>
          <p:cNvPr id="13" name="Text 11"/>
          <p:cNvSpPr txBox="1"/>
          <p:nvPr/>
        </p:nvSpPr>
        <p:spPr>
          <a:xfrm>
            <a:off x="804672" y="4197096"/>
            <a:ext cx="278892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Rack upright bent by an impact</a:t>
            </a:r>
            <a:endParaRPr lang="en-US" sz="1150" dirty="0"/>
          </a:p>
        </p:txBody>
      </p:sp>
      <p:sp>
        <p:nvSpPr>
          <p:cNvPr id="14" name="Text 12"/>
          <p:cNvSpPr txBox="1"/>
          <p:nvPr/>
        </p:nvSpPr>
        <p:spPr>
          <a:xfrm>
            <a:off x="3794760" y="4059936"/>
            <a:ext cx="274320" cy="502920"/>
          </a:xfrm>
          <a:prstGeom prst="rect">
            <a:avLst/>
          </a:prstGeom>
          <a:noFill/>
          <a:ln/>
        </p:spPr>
        <p:txBody>
          <a:bodyPr wrap="square" lIns="0" tIns="0" rIns="0" bIns="0" rtlCol="0" anchor="ctr"/>
          <a:lstStyle/>
          <a:p>
            <a:pPr algn="ctr" indent="0" marL="0">
              <a:buNone/>
            </a:pPr>
            <a:r>
              <a:rPr lang="en-US" sz="1000" i="1" dirty="0">
                <a:solidFill>
                  <a:srgbClr val="6B747D"/>
                </a:solidFill>
                <a:latin typeface="Calibri" pitchFamily="34" charset="0"/>
                <a:ea typeface="Calibri" pitchFamily="34" charset="-122"/>
                <a:cs typeface="Calibri" pitchFamily="34" charset="-120"/>
              </a:rPr>
              <a:t>vs</a:t>
            </a:r>
            <a:endParaRPr lang="en-US" sz="1000" dirty="0"/>
          </a:p>
        </p:txBody>
      </p:sp>
      <p:sp>
        <p:nvSpPr>
          <p:cNvPr id="15" name="Shape 13"/>
          <p:cNvSpPr/>
          <p:nvPr/>
        </p:nvSpPr>
        <p:spPr>
          <a:xfrm>
            <a:off x="4114800" y="4059936"/>
            <a:ext cx="4114800" cy="502920"/>
          </a:xfrm>
          <a:prstGeom prst="roundRect">
            <a:avLst>
              <a:gd name="adj" fmla="val 14545"/>
            </a:avLst>
          </a:prstGeom>
          <a:solidFill>
            <a:srgbClr val="E8F5EC"/>
          </a:solidFill>
          <a:ln/>
        </p:spPr>
      </p:sp>
      <p:sp>
        <p:nvSpPr>
          <p:cNvPr id="16" name="Text 14"/>
          <p:cNvSpPr txBox="1"/>
          <p:nvPr/>
        </p:nvSpPr>
        <p:spPr>
          <a:xfrm>
            <a:off x="4279392" y="4197096"/>
            <a:ext cx="379476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A rack carrying a green inspection tag</a:t>
            </a:r>
            <a:endParaRPr lang="en-US" sz="1150" dirty="0"/>
          </a:p>
        </p:txBody>
      </p:sp>
      <p:sp>
        <p:nvSpPr>
          <p:cNvPr id="17" name="Shape 15"/>
          <p:cNvSpPr/>
          <p:nvPr/>
        </p:nvSpPr>
        <p:spPr>
          <a:xfrm>
            <a:off x="640080" y="4663440"/>
            <a:ext cx="3108960" cy="502920"/>
          </a:xfrm>
          <a:prstGeom prst="roundRect">
            <a:avLst>
              <a:gd name="adj" fmla="val 14545"/>
            </a:avLst>
          </a:prstGeom>
          <a:solidFill>
            <a:srgbClr val="FDF0F1"/>
          </a:solidFill>
          <a:ln/>
        </p:spPr>
      </p:sp>
      <p:sp>
        <p:nvSpPr>
          <p:cNvPr id="18" name="Text 16"/>
          <p:cNvSpPr txBox="1"/>
          <p:nvPr/>
        </p:nvSpPr>
        <p:spPr>
          <a:xfrm>
            <a:off x="804672" y="4800600"/>
            <a:ext cx="278892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Open dock door, no barrier</a:t>
            </a:r>
            <a:endParaRPr lang="en-US" sz="1150" dirty="0"/>
          </a:p>
        </p:txBody>
      </p:sp>
      <p:sp>
        <p:nvSpPr>
          <p:cNvPr id="19" name="Text 17"/>
          <p:cNvSpPr txBox="1"/>
          <p:nvPr/>
        </p:nvSpPr>
        <p:spPr>
          <a:xfrm>
            <a:off x="3794760" y="4663440"/>
            <a:ext cx="274320" cy="502920"/>
          </a:xfrm>
          <a:prstGeom prst="rect">
            <a:avLst/>
          </a:prstGeom>
          <a:noFill/>
          <a:ln/>
        </p:spPr>
        <p:txBody>
          <a:bodyPr wrap="square" lIns="0" tIns="0" rIns="0" bIns="0" rtlCol="0" anchor="ctr"/>
          <a:lstStyle/>
          <a:p>
            <a:pPr algn="ctr" indent="0" marL="0">
              <a:buNone/>
            </a:pPr>
            <a:r>
              <a:rPr lang="en-US" sz="1000" i="1" dirty="0">
                <a:solidFill>
                  <a:srgbClr val="6B747D"/>
                </a:solidFill>
                <a:latin typeface="Calibri" pitchFamily="34" charset="0"/>
                <a:ea typeface="Calibri" pitchFamily="34" charset="-122"/>
                <a:cs typeface="Calibri" pitchFamily="34" charset="-120"/>
              </a:rPr>
              <a:t>vs</a:t>
            </a:r>
            <a:endParaRPr lang="en-US" sz="1000" dirty="0"/>
          </a:p>
        </p:txBody>
      </p:sp>
      <p:sp>
        <p:nvSpPr>
          <p:cNvPr id="20" name="Shape 18"/>
          <p:cNvSpPr/>
          <p:nvPr/>
        </p:nvSpPr>
        <p:spPr>
          <a:xfrm>
            <a:off x="4114800" y="4663440"/>
            <a:ext cx="4114800" cy="502920"/>
          </a:xfrm>
          <a:prstGeom prst="roundRect">
            <a:avLst>
              <a:gd name="adj" fmla="val 14545"/>
            </a:avLst>
          </a:prstGeom>
          <a:solidFill>
            <a:srgbClr val="E8F5EC"/>
          </a:solidFill>
          <a:ln/>
        </p:spPr>
      </p:sp>
      <p:sp>
        <p:nvSpPr>
          <p:cNvPr id="21" name="Text 19"/>
          <p:cNvSpPr txBox="1"/>
          <p:nvPr/>
        </p:nvSpPr>
        <p:spPr>
          <a:xfrm>
            <a:off x="4279392" y="4800600"/>
            <a:ext cx="379476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A dock sealed by a parked trailer</a:t>
            </a:r>
            <a:endParaRPr lang="en-US" sz="1150" dirty="0"/>
          </a:p>
        </p:txBody>
      </p:sp>
      <p:sp>
        <p:nvSpPr>
          <p:cNvPr id="22" name="Shape 20"/>
          <p:cNvSpPr/>
          <p:nvPr/>
        </p:nvSpPr>
        <p:spPr>
          <a:xfrm>
            <a:off x="640080" y="5266944"/>
            <a:ext cx="3108960" cy="502920"/>
          </a:xfrm>
          <a:prstGeom prst="roundRect">
            <a:avLst>
              <a:gd name="adj" fmla="val 14545"/>
            </a:avLst>
          </a:prstGeom>
          <a:solidFill>
            <a:srgbClr val="FDF0F1"/>
          </a:solidFill>
          <a:ln/>
        </p:spPr>
      </p:sp>
      <p:sp>
        <p:nvSpPr>
          <p:cNvPr id="23" name="Text 21"/>
          <p:cNvSpPr txBox="1"/>
          <p:nvPr/>
        </p:nvSpPr>
        <p:spPr>
          <a:xfrm>
            <a:off x="804672" y="5404104"/>
            <a:ext cx="278892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Forklift in the pedestrian lane</a:t>
            </a:r>
            <a:endParaRPr lang="en-US" sz="1150" dirty="0"/>
          </a:p>
        </p:txBody>
      </p:sp>
      <p:sp>
        <p:nvSpPr>
          <p:cNvPr id="24" name="Text 22"/>
          <p:cNvSpPr txBox="1"/>
          <p:nvPr/>
        </p:nvSpPr>
        <p:spPr>
          <a:xfrm>
            <a:off x="3794760" y="5266944"/>
            <a:ext cx="274320" cy="502920"/>
          </a:xfrm>
          <a:prstGeom prst="rect">
            <a:avLst/>
          </a:prstGeom>
          <a:noFill/>
          <a:ln/>
        </p:spPr>
        <p:txBody>
          <a:bodyPr wrap="square" lIns="0" tIns="0" rIns="0" bIns="0" rtlCol="0" anchor="ctr"/>
          <a:lstStyle/>
          <a:p>
            <a:pPr algn="ctr" indent="0" marL="0">
              <a:buNone/>
            </a:pPr>
            <a:r>
              <a:rPr lang="en-US" sz="1000" i="1" dirty="0">
                <a:solidFill>
                  <a:srgbClr val="6B747D"/>
                </a:solidFill>
                <a:latin typeface="Calibri" pitchFamily="34" charset="0"/>
                <a:ea typeface="Calibri" pitchFamily="34" charset="-122"/>
                <a:cs typeface="Calibri" pitchFamily="34" charset="-120"/>
              </a:rPr>
              <a:t>vs</a:t>
            </a:r>
            <a:endParaRPr lang="en-US" sz="1000" dirty="0"/>
          </a:p>
        </p:txBody>
      </p:sp>
      <p:sp>
        <p:nvSpPr>
          <p:cNvPr id="25" name="Shape 23"/>
          <p:cNvSpPr/>
          <p:nvPr/>
        </p:nvSpPr>
        <p:spPr>
          <a:xfrm>
            <a:off x="4114800" y="5266944"/>
            <a:ext cx="4114800" cy="502920"/>
          </a:xfrm>
          <a:prstGeom prst="roundRect">
            <a:avLst>
              <a:gd name="adj" fmla="val 14545"/>
            </a:avLst>
          </a:prstGeom>
          <a:solidFill>
            <a:srgbClr val="E8F5EC"/>
          </a:solidFill>
          <a:ln/>
        </p:spPr>
      </p:sp>
      <p:sp>
        <p:nvSpPr>
          <p:cNvPr id="26" name="Text 24"/>
          <p:cNvSpPr txBox="1"/>
          <p:nvPr/>
        </p:nvSpPr>
        <p:spPr>
          <a:xfrm>
            <a:off x="4279392" y="5404104"/>
            <a:ext cx="3794760" cy="320040"/>
          </a:xfrm>
          <a:prstGeom prst="rect">
            <a:avLst/>
          </a:prstGeom>
          <a:noFill/>
          <a:ln/>
        </p:spPr>
        <p:txBody>
          <a:bodyPr wrap="square" lIns="0" tIns="0" rIns="0" bIns="0" rtlCol="0" anchor="t"/>
          <a:lstStyle/>
          <a:p>
            <a:pPr algn="l" indent="0" marL="0">
              <a:lnSpc>
                <a:spcPct val="120000"/>
              </a:lnSpc>
              <a:buNone/>
            </a:pPr>
            <a:r>
              <a:rPr lang="en-US" sz="1150" dirty="0">
                <a:solidFill>
                  <a:srgbClr val="14181C"/>
                </a:solidFill>
                <a:latin typeface="Calibri" pitchFamily="34" charset="0"/>
                <a:ea typeface="Calibri" pitchFamily="34" charset="-122"/>
                <a:cs typeface="Calibri" pitchFamily="34" charset="-120"/>
              </a:rPr>
              <a:t>A truck parked in its charging bay</a:t>
            </a:r>
            <a:endParaRPr lang="en-US" sz="1150" dirty="0"/>
          </a:p>
        </p:txBody>
      </p:sp>
      <p:sp>
        <p:nvSpPr>
          <p:cNvPr id="27" name="Shape 25"/>
          <p:cNvSpPr/>
          <p:nvPr/>
        </p:nvSpPr>
        <p:spPr>
          <a:xfrm>
            <a:off x="8686800" y="1828800"/>
            <a:ext cx="2880360" cy="4114800"/>
          </a:xfrm>
          <a:prstGeom prst="roundRect">
            <a:avLst>
              <a:gd name="adj" fmla="val 2540"/>
            </a:avLst>
          </a:prstGeom>
          <a:solidFill>
            <a:srgbClr val="14181C"/>
          </a:solidFill>
          <a:ln/>
        </p:spPr>
      </p:sp>
      <p:sp>
        <p:nvSpPr>
          <p:cNvPr id="28" name="Text 26"/>
          <p:cNvSpPr txBox="1"/>
          <p:nvPr/>
        </p:nvSpPr>
        <p:spPr>
          <a:xfrm>
            <a:off x="8915400" y="1874520"/>
            <a:ext cx="914400" cy="640080"/>
          </a:xfrm>
          <a:prstGeom prst="rect">
            <a:avLst/>
          </a:prstGeom>
          <a:noFill/>
          <a:ln/>
        </p:spPr>
        <p:txBody>
          <a:bodyPr wrap="square" lIns="0" tIns="0" rIns="0" bIns="0" rtlCol="0" anchor="t"/>
          <a:lstStyle/>
          <a:p>
            <a:pPr indent="0" marL="0">
              <a:buNone/>
            </a:pPr>
            <a:r>
              <a:rPr lang="en-US" sz="4400" b="1" dirty="0">
                <a:solidFill>
                  <a:srgbClr val="F2B90C"/>
                </a:solidFill>
                <a:latin typeface="Arial" pitchFamily="34" charset="0"/>
                <a:ea typeface="Arial" pitchFamily="34" charset="-122"/>
                <a:cs typeface="Arial" pitchFamily="34" charset="-120"/>
              </a:rPr>
              <a:t>“</a:t>
            </a:r>
            <a:endParaRPr lang="en-US" sz="4400" dirty="0"/>
          </a:p>
        </p:txBody>
      </p:sp>
      <p:sp>
        <p:nvSpPr>
          <p:cNvPr id="29" name="Text 27"/>
          <p:cNvSpPr txBox="1"/>
          <p:nvPr/>
        </p:nvSpPr>
        <p:spPr>
          <a:xfrm>
            <a:off x="8915400" y="2514600"/>
            <a:ext cx="2423160" cy="2011680"/>
          </a:xfrm>
          <a:prstGeom prst="rect">
            <a:avLst/>
          </a:prstGeom>
          <a:noFill/>
          <a:ln/>
        </p:spPr>
        <p:txBody>
          <a:bodyPr wrap="square" lIns="0" tIns="0" rIns="0" bIns="0" rtlCol="0" anchor="t"/>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This spill is already being managed — it is signed and coned off, which is exactly the correct control. The hazard is an UNMARKED spill.</a:t>
            </a:r>
            <a:endParaRPr lang="en-US" sz="1250" dirty="0"/>
          </a:p>
        </p:txBody>
      </p:sp>
      <p:sp>
        <p:nvSpPr>
          <p:cNvPr id="30" name="Text 28"/>
          <p:cNvSpPr txBox="1"/>
          <p:nvPr/>
        </p:nvSpPr>
        <p:spPr>
          <a:xfrm>
            <a:off x="8915400" y="5120640"/>
            <a:ext cx="2423160" cy="640080"/>
          </a:xfrm>
          <a:prstGeom prst="rect">
            <a:avLst/>
          </a:prstGeom>
          <a:noFill/>
          <a:ln/>
        </p:spPr>
        <p:txBody>
          <a:bodyPr wrap="square" lIns="0" tIns="0" rIns="0" bIns="0" rtlCol="0" anchor="t"/>
          <a:lstStyle/>
          <a:p>
            <a:pPr indent="0" marL="0">
              <a:buNone/>
            </a:pPr>
            <a:r>
              <a:rPr lang="en-US" sz="1050" i="1" dirty="0">
                <a:solidFill>
                  <a:srgbClr val="A8B2BB"/>
                </a:solidFill>
                <a:latin typeface="Calibri" pitchFamily="34" charset="0"/>
                <a:ea typeface="Calibri" pitchFamily="34" charset="-122"/>
                <a:cs typeface="Calibri" pitchFamily="34" charset="-120"/>
              </a:rPr>
              <a:t>Actual feedback shown when a trainee flags a decoy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HOW A SESSION RUNS</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Learn it, then prove it</a:t>
            </a:r>
            <a:endParaRPr lang="en-US" sz="3200" dirty="0"/>
          </a:p>
        </p:txBody>
      </p:sp>
      <p:sp>
        <p:nvSpPr>
          <p:cNvPr id="4" name="Shape 2"/>
          <p:cNvSpPr/>
          <p:nvPr/>
        </p:nvSpPr>
        <p:spPr>
          <a:xfrm>
            <a:off x="640080" y="1554480"/>
            <a:ext cx="5272888" cy="3794760"/>
          </a:xfrm>
          <a:prstGeom prst="roundRect">
            <a:avLst>
              <a:gd name="adj" fmla="val 1928"/>
            </a:avLst>
          </a:prstGeom>
          <a:solidFill>
            <a:srgbClr val="F1F3F5"/>
          </a:solidFill>
          <a:ln/>
          <a:effectLst>
            <a:outerShdw sx="100000" sy="100000" kx="0" ky="0" algn="bl" rotWithShape="0" blurRad="101600" dist="508" dir="5400000">
              <a:srgbClr val="000000">
                <a:alpha val="10000"/>
              </a:srgbClr>
            </a:outerShdw>
          </a:effectLst>
        </p:spPr>
      </p:sp>
      <p:sp>
        <p:nvSpPr>
          <p:cNvPr id="5" name="Shape 3"/>
          <p:cNvSpPr/>
          <p:nvPr/>
        </p:nvSpPr>
        <p:spPr>
          <a:xfrm>
            <a:off x="1005840" y="1828800"/>
            <a:ext cx="457200" cy="457200"/>
          </a:xfrm>
          <a:prstGeom prst="ellipse">
            <a:avLst/>
          </a:prstGeom>
          <a:solidFill>
            <a:srgbClr val="F2B90C"/>
          </a:solidFill>
          <a:ln/>
        </p:spPr>
      </p:sp>
      <p:sp>
        <p:nvSpPr>
          <p:cNvPr id="6" name="Text 4"/>
          <p:cNvSpPr txBox="1"/>
          <p:nvPr/>
        </p:nvSpPr>
        <p:spPr>
          <a:xfrm>
            <a:off x="1005840" y="1828800"/>
            <a:ext cx="457200" cy="457200"/>
          </a:xfrm>
          <a:prstGeom prst="rect">
            <a:avLst/>
          </a:prstGeom>
          <a:noFill/>
          <a:ln/>
        </p:spPr>
        <p:txBody>
          <a:bodyPr wrap="square" lIns="0" tIns="0" rIns="0" bIns="0" rtlCol="0" anchor="ctr"/>
          <a:lstStyle/>
          <a:p>
            <a:pPr algn="ctr" indent="0" marL="0">
              <a:buNone/>
            </a:pPr>
            <a:r>
              <a:rPr lang="en-US" sz="1500" b="1" dirty="0">
                <a:solidFill>
                  <a:srgbClr val="14181C"/>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600200" y="1847088"/>
            <a:ext cx="3200400" cy="411480"/>
          </a:xfrm>
          <a:prstGeom prst="rect">
            <a:avLst/>
          </a:prstGeom>
          <a:noFill/>
          <a:ln/>
        </p:spPr>
        <p:txBody>
          <a:bodyPr wrap="square" lIns="0" tIns="0" rIns="0" bIns="0" rtlCol="0" anchor="ctr"/>
          <a:lstStyle/>
          <a:p>
            <a:pPr indent="0" marL="0">
              <a:buNone/>
            </a:pPr>
            <a:r>
              <a:rPr lang="en-US" sz="1700" b="1" dirty="0">
                <a:solidFill>
                  <a:srgbClr val="14181C"/>
                </a:solidFill>
                <a:latin typeface="Arial" pitchFamily="34" charset="0"/>
                <a:ea typeface="Arial" pitchFamily="34" charset="-122"/>
                <a:cs typeface="Arial" pitchFamily="34" charset="-120"/>
              </a:rPr>
              <a:t>TRAIN MODE</a:t>
            </a:r>
            <a:endParaRPr lang="en-US" sz="1700" dirty="0"/>
          </a:p>
        </p:txBody>
      </p:sp>
      <p:sp>
        <p:nvSpPr>
          <p:cNvPr id="8" name="Text 6"/>
          <p:cNvSpPr txBox="1"/>
          <p:nvPr/>
        </p:nvSpPr>
        <p:spPr>
          <a:xfrm>
            <a:off x="1005840" y="2423160"/>
            <a:ext cx="4541368" cy="320040"/>
          </a:xfrm>
          <a:prstGeom prst="rect">
            <a:avLst/>
          </a:prstGeom>
          <a:noFill/>
          <a:ln/>
        </p:spPr>
        <p:txBody>
          <a:bodyPr wrap="square" lIns="0" tIns="0" rIns="0" bIns="0" rtlCol="0" anchor="t"/>
          <a:lstStyle/>
          <a:p>
            <a:pPr algn="l" indent="0" marL="0">
              <a:lnSpc>
                <a:spcPct val="120000"/>
              </a:lnSpc>
              <a:buNone/>
            </a:pPr>
            <a:r>
              <a:rPr lang="en-US" sz="1300" i="1" dirty="0">
                <a:solidFill>
                  <a:srgbClr val="6B747D"/>
                </a:solidFill>
                <a:latin typeface="Calibri" pitchFamily="34" charset="0"/>
                <a:ea typeface="Calibri" pitchFamily="34" charset="-122"/>
                <a:cs typeface="Calibri" pitchFamily="34" charset="-120"/>
              </a:rPr>
              <a:t>Teaches. It gates everything else.</a:t>
            </a:r>
            <a:endParaRPr lang="en-US" sz="1300" dirty="0"/>
          </a:p>
        </p:txBody>
      </p:sp>
      <p:sp>
        <p:nvSpPr>
          <p:cNvPr id="9" name="Text 7"/>
          <p:cNvSpPr txBox="1"/>
          <p:nvPr/>
        </p:nvSpPr>
        <p:spPr>
          <a:xfrm>
            <a:off x="1005840" y="2880360"/>
            <a:ext cx="4541368"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Every hazard is ringed so it can be found</a:t>
            </a:r>
            <a:endParaRPr lang="en-US" sz="1300" dirty="0"/>
          </a:p>
          <a:p>
            <a:pPr marL="342900" indent="-342900">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Each find opens a card: what it is, why it is dangerous, the correct control</a:t>
            </a:r>
            <a:endParaRPr lang="en-US" sz="1300" dirty="0"/>
          </a:p>
          <a:p>
            <a:pPr marL="342900" indent="-342900">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No meaningful time pressure — nothing is being scored</a:t>
            </a:r>
            <a:endParaRPr lang="en-US" sz="1300" dirty="0"/>
          </a:p>
          <a:p>
            <a:pPr marL="342900" indent="-342900">
              <a:spcAft>
                <a:spcPts val="800"/>
              </a:spcAft>
              <a:buSzPct val="100000"/>
              <a:buChar char="•"/>
            </a:pPr>
            <a:r>
              <a:rPr lang="en-US" sz="1300" dirty="0">
                <a:solidFill>
                  <a:srgbClr val="3C444C"/>
                </a:solidFill>
                <a:latin typeface="Calibri" pitchFamily="34" charset="0"/>
                <a:ea typeface="Calibri" pitchFamily="34" charset="-122"/>
                <a:cs typeface="Calibri" pitchFamily="34" charset="-120"/>
              </a:rPr>
              <a:t>Finishing a site unlocks testing on that site</a:t>
            </a:r>
            <a:endParaRPr lang="en-US" sz="1300" dirty="0"/>
          </a:p>
        </p:txBody>
      </p:sp>
      <p:sp>
        <p:nvSpPr>
          <p:cNvPr id="10" name="Shape 8"/>
          <p:cNvSpPr/>
          <p:nvPr/>
        </p:nvSpPr>
        <p:spPr>
          <a:xfrm>
            <a:off x="6278728" y="1554480"/>
            <a:ext cx="5272888" cy="3794760"/>
          </a:xfrm>
          <a:prstGeom prst="roundRect">
            <a:avLst>
              <a:gd name="adj" fmla="val 1928"/>
            </a:avLst>
          </a:prstGeom>
          <a:solidFill>
            <a:srgbClr val="14181C"/>
          </a:solidFill>
          <a:ln/>
        </p:spPr>
      </p:sp>
      <p:sp>
        <p:nvSpPr>
          <p:cNvPr id="11" name="Shape 9"/>
          <p:cNvSpPr/>
          <p:nvPr/>
        </p:nvSpPr>
        <p:spPr>
          <a:xfrm>
            <a:off x="6644488" y="1828800"/>
            <a:ext cx="457200" cy="457200"/>
          </a:xfrm>
          <a:prstGeom prst="ellipse">
            <a:avLst/>
          </a:prstGeom>
          <a:solidFill>
            <a:srgbClr val="F2B90C"/>
          </a:solidFill>
          <a:ln/>
        </p:spPr>
      </p:sp>
      <p:sp>
        <p:nvSpPr>
          <p:cNvPr id="12" name="Text 10"/>
          <p:cNvSpPr txBox="1"/>
          <p:nvPr/>
        </p:nvSpPr>
        <p:spPr>
          <a:xfrm>
            <a:off x="6644488" y="1828800"/>
            <a:ext cx="457200" cy="457200"/>
          </a:xfrm>
          <a:prstGeom prst="rect">
            <a:avLst/>
          </a:prstGeom>
          <a:noFill/>
          <a:ln/>
        </p:spPr>
        <p:txBody>
          <a:bodyPr wrap="square" lIns="0" tIns="0" rIns="0" bIns="0" rtlCol="0" anchor="ctr"/>
          <a:lstStyle/>
          <a:p>
            <a:pPr algn="ctr" indent="0" marL="0">
              <a:buNone/>
            </a:pPr>
            <a:r>
              <a:rPr lang="en-US" sz="1500" b="1" dirty="0">
                <a:solidFill>
                  <a:srgbClr val="14181C"/>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7238848" y="1847088"/>
            <a:ext cx="32004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TEST MODE</a:t>
            </a:r>
            <a:endParaRPr lang="en-US" sz="1700" dirty="0"/>
          </a:p>
        </p:txBody>
      </p:sp>
      <p:sp>
        <p:nvSpPr>
          <p:cNvPr id="14" name="Text 12"/>
          <p:cNvSpPr txBox="1"/>
          <p:nvPr/>
        </p:nvSpPr>
        <p:spPr>
          <a:xfrm>
            <a:off x="6644488" y="2423160"/>
            <a:ext cx="4541368" cy="320040"/>
          </a:xfrm>
          <a:prstGeom prst="rect">
            <a:avLst/>
          </a:prstGeom>
          <a:noFill/>
          <a:ln/>
        </p:spPr>
        <p:txBody>
          <a:bodyPr wrap="square" lIns="0" tIns="0" rIns="0" bIns="0" rtlCol="0" anchor="t"/>
          <a:lstStyle/>
          <a:p>
            <a:pPr algn="l" indent="0" marL="0">
              <a:lnSpc>
                <a:spcPct val="120000"/>
              </a:lnSpc>
              <a:buNone/>
            </a:pPr>
            <a:r>
              <a:rPr lang="en-US" sz="1300" i="1" dirty="0">
                <a:solidFill>
                  <a:srgbClr val="A8B2BB"/>
                </a:solidFill>
                <a:latin typeface="Calibri" pitchFamily="34" charset="0"/>
                <a:ea typeface="Calibri" pitchFamily="34" charset="-122"/>
                <a:cs typeface="Calibri" pitchFamily="34" charset="-120"/>
              </a:rPr>
              <a:t>Evaluates. No help.</a:t>
            </a:r>
            <a:endParaRPr lang="en-US" sz="1300" dirty="0"/>
          </a:p>
        </p:txBody>
      </p:sp>
      <p:sp>
        <p:nvSpPr>
          <p:cNvPr id="15" name="Text 13"/>
          <p:cNvSpPr txBox="1"/>
          <p:nvPr/>
        </p:nvSpPr>
        <p:spPr>
          <a:xfrm>
            <a:off x="6644488" y="2880360"/>
            <a:ext cx="4541368"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No rings, no hints — you find them by looking</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 reaction clock runs on every hazard</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Wrong flags break your combo and return a safety tip</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Full breakdown at the end, with personalised coaching</a:t>
            </a:r>
            <a:endParaRPr lang="en-US" sz="1300" dirty="0"/>
          </a:p>
        </p:txBody>
      </p:sp>
      <p:sp>
        <p:nvSpPr>
          <p:cNvPr id="16" name="Shape 14"/>
          <p:cNvSpPr/>
          <p:nvPr/>
        </p:nvSpPr>
        <p:spPr>
          <a:xfrm>
            <a:off x="640080" y="5623560"/>
            <a:ext cx="1737360" cy="548640"/>
          </a:xfrm>
          <a:prstGeom prst="roundRect">
            <a:avLst>
              <a:gd name="adj" fmla="val 13333"/>
            </a:avLst>
          </a:prstGeom>
          <a:solidFill>
            <a:srgbClr val="F1F3F5"/>
          </a:solidFill>
          <a:ln/>
        </p:spPr>
      </p:sp>
      <p:sp>
        <p:nvSpPr>
          <p:cNvPr id="17" name="Text 15"/>
          <p:cNvSpPr txBox="1"/>
          <p:nvPr/>
        </p:nvSpPr>
        <p:spPr>
          <a:xfrm>
            <a:off x="640080" y="5623560"/>
            <a:ext cx="1737360" cy="54864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Observe</a:t>
            </a:r>
            <a:endParaRPr lang="en-US" sz="1300" dirty="0"/>
          </a:p>
        </p:txBody>
      </p:sp>
      <p:sp>
        <p:nvSpPr>
          <p:cNvPr id="18" name="Text 16"/>
          <p:cNvSpPr txBox="1"/>
          <p:nvPr/>
        </p:nvSpPr>
        <p:spPr>
          <a:xfrm>
            <a:off x="2377440" y="5623560"/>
            <a:ext cx="384048" cy="548640"/>
          </a:xfrm>
          <a:prstGeom prst="rect">
            <a:avLst/>
          </a:prstGeom>
          <a:noFill/>
          <a:ln/>
        </p:spPr>
        <p:txBody>
          <a:bodyPr wrap="square" lIns="0" tIns="0" rIns="0" bIns="0" rtlCol="0" anchor="ctr"/>
          <a:lstStyle/>
          <a:p>
            <a:pPr algn="ctr" indent="0" marL="0">
              <a:buNone/>
            </a:pPr>
            <a:r>
              <a:rPr lang="en-US" sz="1500" dirty="0">
                <a:solidFill>
                  <a:srgbClr val="6B747D"/>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2761488" y="5623560"/>
            <a:ext cx="1737360" cy="548640"/>
          </a:xfrm>
          <a:prstGeom prst="roundRect">
            <a:avLst>
              <a:gd name="adj" fmla="val 13333"/>
            </a:avLst>
          </a:prstGeom>
          <a:solidFill>
            <a:srgbClr val="F1F3F5"/>
          </a:solidFill>
          <a:ln/>
        </p:spPr>
      </p:sp>
      <p:sp>
        <p:nvSpPr>
          <p:cNvPr id="20" name="Text 18"/>
          <p:cNvSpPr txBox="1"/>
          <p:nvPr/>
        </p:nvSpPr>
        <p:spPr>
          <a:xfrm>
            <a:off x="2761488" y="5623560"/>
            <a:ext cx="1737360" cy="54864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Find</a:t>
            </a:r>
            <a:endParaRPr lang="en-US" sz="1300" dirty="0"/>
          </a:p>
        </p:txBody>
      </p:sp>
      <p:sp>
        <p:nvSpPr>
          <p:cNvPr id="21" name="Text 19"/>
          <p:cNvSpPr txBox="1"/>
          <p:nvPr/>
        </p:nvSpPr>
        <p:spPr>
          <a:xfrm>
            <a:off x="4498848" y="5623560"/>
            <a:ext cx="384048" cy="548640"/>
          </a:xfrm>
          <a:prstGeom prst="rect">
            <a:avLst/>
          </a:prstGeom>
          <a:noFill/>
          <a:ln/>
        </p:spPr>
        <p:txBody>
          <a:bodyPr wrap="square" lIns="0" tIns="0" rIns="0" bIns="0" rtlCol="0" anchor="ctr"/>
          <a:lstStyle/>
          <a:p>
            <a:pPr algn="ctr" indent="0" marL="0">
              <a:buNone/>
            </a:pPr>
            <a:r>
              <a:rPr lang="en-US" sz="1500" dirty="0">
                <a:solidFill>
                  <a:srgbClr val="6B747D"/>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4882896" y="5623560"/>
            <a:ext cx="1737360" cy="548640"/>
          </a:xfrm>
          <a:prstGeom prst="roundRect">
            <a:avLst>
              <a:gd name="adj" fmla="val 13333"/>
            </a:avLst>
          </a:prstGeom>
          <a:solidFill>
            <a:srgbClr val="F1F3F5"/>
          </a:solidFill>
          <a:ln/>
        </p:spPr>
      </p:sp>
      <p:sp>
        <p:nvSpPr>
          <p:cNvPr id="23" name="Text 21"/>
          <p:cNvSpPr txBox="1"/>
          <p:nvPr/>
        </p:nvSpPr>
        <p:spPr>
          <a:xfrm>
            <a:off x="4882896" y="5623560"/>
            <a:ext cx="1737360" cy="54864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Flag</a:t>
            </a:r>
            <a:endParaRPr lang="en-US" sz="1300" dirty="0"/>
          </a:p>
        </p:txBody>
      </p:sp>
      <p:sp>
        <p:nvSpPr>
          <p:cNvPr id="24" name="Text 22"/>
          <p:cNvSpPr txBox="1"/>
          <p:nvPr/>
        </p:nvSpPr>
        <p:spPr>
          <a:xfrm>
            <a:off x="6620256" y="5623560"/>
            <a:ext cx="384048" cy="548640"/>
          </a:xfrm>
          <a:prstGeom prst="rect">
            <a:avLst/>
          </a:prstGeom>
          <a:noFill/>
          <a:ln/>
        </p:spPr>
        <p:txBody>
          <a:bodyPr wrap="square" lIns="0" tIns="0" rIns="0" bIns="0" rtlCol="0" anchor="ctr"/>
          <a:lstStyle/>
          <a:p>
            <a:pPr algn="ctr" indent="0" marL="0">
              <a:buNone/>
            </a:pPr>
            <a:r>
              <a:rPr lang="en-US" sz="1500" dirty="0">
                <a:solidFill>
                  <a:srgbClr val="6B747D"/>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7004304" y="5623560"/>
            <a:ext cx="1737360" cy="548640"/>
          </a:xfrm>
          <a:prstGeom prst="roundRect">
            <a:avLst>
              <a:gd name="adj" fmla="val 13333"/>
            </a:avLst>
          </a:prstGeom>
          <a:solidFill>
            <a:srgbClr val="F1F3F5"/>
          </a:solidFill>
          <a:ln/>
        </p:spPr>
      </p:sp>
      <p:sp>
        <p:nvSpPr>
          <p:cNvPr id="26" name="Text 24"/>
          <p:cNvSpPr txBox="1"/>
          <p:nvPr/>
        </p:nvSpPr>
        <p:spPr>
          <a:xfrm>
            <a:off x="7004304" y="5623560"/>
            <a:ext cx="1737360" cy="54864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Validate</a:t>
            </a:r>
            <a:endParaRPr lang="en-US" sz="1300" dirty="0"/>
          </a:p>
        </p:txBody>
      </p:sp>
      <p:sp>
        <p:nvSpPr>
          <p:cNvPr id="27" name="Text 25"/>
          <p:cNvSpPr txBox="1"/>
          <p:nvPr/>
        </p:nvSpPr>
        <p:spPr>
          <a:xfrm>
            <a:off x="8741664" y="5623560"/>
            <a:ext cx="384048" cy="548640"/>
          </a:xfrm>
          <a:prstGeom prst="rect">
            <a:avLst/>
          </a:prstGeom>
          <a:noFill/>
          <a:ln/>
        </p:spPr>
        <p:txBody>
          <a:bodyPr wrap="square" lIns="0" tIns="0" rIns="0" bIns="0" rtlCol="0" anchor="ctr"/>
          <a:lstStyle/>
          <a:p>
            <a:pPr algn="ctr" indent="0" marL="0">
              <a:buNone/>
            </a:pPr>
            <a:r>
              <a:rPr lang="en-US" sz="1500" dirty="0">
                <a:solidFill>
                  <a:srgbClr val="6B747D"/>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9125712" y="5623560"/>
            <a:ext cx="1737360" cy="548640"/>
          </a:xfrm>
          <a:prstGeom prst="roundRect">
            <a:avLst>
              <a:gd name="adj" fmla="val 13333"/>
            </a:avLst>
          </a:prstGeom>
          <a:solidFill>
            <a:srgbClr val="F2B90C"/>
          </a:solidFill>
          <a:ln/>
        </p:spPr>
      </p:sp>
      <p:sp>
        <p:nvSpPr>
          <p:cNvPr id="29" name="Text 27"/>
          <p:cNvSpPr txBox="1"/>
          <p:nvPr/>
        </p:nvSpPr>
        <p:spPr>
          <a:xfrm>
            <a:off x="9125712" y="5623560"/>
            <a:ext cx="1737360" cy="548640"/>
          </a:xfrm>
          <a:prstGeom prst="rect">
            <a:avLst/>
          </a:prstGeom>
          <a:noFill/>
          <a:ln/>
        </p:spPr>
        <p:txBody>
          <a:bodyPr wrap="square" lIns="0" tIns="0" rIns="0" bIns="0" rtlCol="0" anchor="ctr"/>
          <a:lstStyle/>
          <a:p>
            <a:pPr algn="ctr" indent="0" marL="0">
              <a:buNone/>
            </a:pPr>
            <a:r>
              <a:rPr lang="en-US" sz="1300" b="1" dirty="0">
                <a:solidFill>
                  <a:srgbClr val="14181C"/>
                </a:solidFill>
                <a:latin typeface="Calibri" pitchFamily="34" charset="0"/>
                <a:ea typeface="Calibri" pitchFamily="34" charset="-122"/>
                <a:cs typeface="Calibri" pitchFamily="34" charset="-120"/>
              </a:rPr>
              <a:t>Result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227"/>
        </a:solidFill>
      </p:bgPr>
    </p:bg>
    <p:spTree>
      <p:nvGrpSpPr>
        <p:cNvPr id="1" name=""/>
        <p:cNvGrpSpPr/>
        <p:nvPr/>
      </p:nvGrpSpPr>
      <p:grpSpPr>
        <a:xfrm>
          <a:off x="0" y="0"/>
          <a:ext cx="0" cy="0"/>
          <a:chOff x="0" y="0"/>
          <a:chExt cx="0" cy="0"/>
        </a:xfrm>
      </p:grpSpPr>
      <p:pic>
        <p:nvPicPr>
          <p:cNvPr id="2" name="Image 0" descr="C:\Users\acer\Desktop\interprize_project\ppt\shots\opt\env03_highbay.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81C">
              <a:alpha val="78000"/>
            </a:srgbClr>
          </a:solidFill>
          <a:ln/>
        </p:spPr>
      </p:sp>
      <p:sp>
        <p:nvSpPr>
          <p:cNvPr id="4" name="Text 1"/>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DIFFICULTY</a:t>
            </a:r>
            <a:endParaRPr lang="en-US" sz="1200" dirty="0"/>
          </a:p>
        </p:txBody>
      </p:sp>
      <p:sp>
        <p:nvSpPr>
          <p:cNvPr id="5" name="Text 2"/>
          <p:cNvSpPr txBox="1"/>
          <p:nvPr/>
        </p:nvSpPr>
        <p:spPr>
          <a:xfrm>
            <a:off x="640080" y="676656"/>
            <a:ext cx="10911535" cy="1143000"/>
          </a:xfrm>
          <a:prstGeom prst="rect">
            <a:avLst/>
          </a:prstGeom>
          <a:noFill/>
          <a:ln/>
        </p:spPr>
        <p:txBody>
          <a:bodyPr wrap="square" lIns="0" tIns="0" rIns="0" bIns="0" rtlCol="0" anchor="ctr"/>
          <a:lstStyle/>
          <a:p>
            <a:pPr algn="l" indent="0" marL="0">
              <a:buNone/>
            </a:pPr>
            <a:r>
              <a:rPr lang="en-US" sz="2700" b="1" dirty="0">
                <a:solidFill>
                  <a:srgbClr val="FFFFFF"/>
                </a:solidFill>
                <a:latin typeface="Arial" pitchFamily="34" charset="0"/>
                <a:ea typeface="Arial" pitchFamily="34" charset="-122"/>
                <a:cs typeface="Arial" pitchFamily="34" charset="-120"/>
              </a:rPr>
              <a:t>Three difficulties that change the game,</a:t>
            </a:r>
            <a:endParaRPr lang="en-US" sz="2700" dirty="0"/>
          </a:p>
          <a:p>
            <a:pPr algn="l" indent="0" marL="0">
              <a:buNone/>
            </a:pPr>
            <a:r>
              <a:rPr lang="en-US" sz="2700" b="1" dirty="0">
                <a:solidFill>
                  <a:srgbClr val="FFFFFF"/>
                </a:solidFill>
                <a:latin typeface="Arial" pitchFamily="34" charset="0"/>
                <a:ea typeface="Arial" pitchFamily="34" charset="-122"/>
                <a:cs typeface="Arial" pitchFamily="34" charset="-120"/>
              </a:rPr>
              <a:t>not the label</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6949440" cy="914400"/>
        </p:xfrm>
        <a:graphic>
          <a:graphicData uri="http://schemas.openxmlformats.org/drawingml/2006/table">
            <a:tbl>
              <a:tblPr/>
              <a:tblGrid>
                <a:gridCol w="2834640"/>
                <a:gridCol w="1371600"/>
                <a:gridCol w="1371600"/>
                <a:gridCol w="1371600"/>
              </a:tblGrid>
              <a:tr h="384048">
                <a:tc>
                  <a:txBody>
                    <a:bodyPr/>
                    <a:lstStyle/>
                    <a:p>
                      <a:pPr algn="l" indent="0" marL="0">
                        <a:buNone/>
                      </a:pPr>
                      <a:endParaRPr lang="en-US" sz="1200" dirty="0">
                        <a:latin typeface="Arial" charset="0"/>
                        <a:ea typeface="Arial" charset="0"/>
                        <a:cs typeface="Arial"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F2B90C"/>
                    </a:solidFill>
                  </a:tcPr>
                </a:tc>
                <a:tc>
                  <a:txBody>
                    <a:bodyPr/>
                    <a:lstStyle/>
                    <a:p>
                      <a:pPr algn="ctr" indent="0" marL="0">
                        <a:buNone/>
                      </a:pPr>
                      <a:r>
                        <a:rPr lang="en-US" sz="1200" b="1" dirty="0">
                          <a:solidFill>
                            <a:srgbClr val="14181C"/>
                          </a:solidFill>
                          <a:latin typeface="Arial" pitchFamily="34" charset="0"/>
                          <a:ea typeface="Arial" pitchFamily="34" charset="-122"/>
                          <a:cs typeface="Arial" pitchFamily="34" charset="-120"/>
                        </a:rPr>
                        <a:t>SIMPLE</a:t>
                      </a:r>
                      <a:endParaRPr lang="en-US" sz="1200" dirty="0">
                        <a:latin typeface="Arial" charset="0"/>
                        <a:ea typeface="Arial" charset="0"/>
                        <a:cs typeface="Arial"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F2B90C"/>
                    </a:solidFill>
                  </a:tcPr>
                </a:tc>
                <a:tc>
                  <a:txBody>
                    <a:bodyPr/>
                    <a:lstStyle/>
                    <a:p>
                      <a:pPr algn="ctr" indent="0" marL="0">
                        <a:buNone/>
                      </a:pPr>
                      <a:r>
                        <a:rPr lang="en-US" sz="1200" b="1" dirty="0">
                          <a:solidFill>
                            <a:srgbClr val="14181C"/>
                          </a:solidFill>
                          <a:latin typeface="Arial" pitchFamily="34" charset="0"/>
                          <a:ea typeface="Arial" pitchFamily="34" charset="-122"/>
                          <a:cs typeface="Arial" pitchFamily="34" charset="-120"/>
                        </a:rPr>
                        <a:t>MID</a:t>
                      </a:r>
                      <a:endParaRPr lang="en-US" sz="1200" dirty="0">
                        <a:latin typeface="Arial" charset="0"/>
                        <a:ea typeface="Arial" charset="0"/>
                        <a:cs typeface="Arial"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F2B90C"/>
                    </a:solidFill>
                  </a:tcPr>
                </a:tc>
                <a:tc>
                  <a:txBody>
                    <a:bodyPr/>
                    <a:lstStyle/>
                    <a:p>
                      <a:pPr algn="ctr" indent="0" marL="0">
                        <a:buNone/>
                      </a:pPr>
                      <a:r>
                        <a:rPr lang="en-US" sz="1200" b="1" dirty="0">
                          <a:solidFill>
                            <a:srgbClr val="14181C"/>
                          </a:solidFill>
                          <a:latin typeface="Arial" pitchFamily="34" charset="0"/>
                          <a:ea typeface="Arial" pitchFamily="34" charset="-122"/>
                          <a:cs typeface="Arial" pitchFamily="34" charset="-120"/>
                        </a:rPr>
                        <a:t>HARD</a:t>
                      </a:r>
                      <a:endParaRPr lang="en-US" sz="1200" dirty="0">
                        <a:latin typeface="Arial" charset="0"/>
                        <a:ea typeface="Arial" charset="0"/>
                        <a:cs typeface="Arial"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F2B90C"/>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Time per hazard</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90 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60 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38 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Score multiplier</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×1.25</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Hazards highlighted</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Hazard count shown</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Decoys to reject</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Moving hazards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2C333A"/>
                    </a:solidFill>
                  </a:tcPr>
                </a:tc>
              </a:tr>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Ambient light</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0.85</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0.60</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c>
                  <a:txBody>
                    <a:bodyPr/>
                    <a:lstStyle/>
                    <a:p>
                      <a:pPr algn="ctr" indent="0" marL="0">
                        <a:buNone/>
                      </a:pPr>
                      <a:r>
                        <a:rPr lang="en-US" sz="1250" dirty="0">
                          <a:solidFill>
                            <a:srgbClr val="F2B90C"/>
                          </a:solidFill>
                          <a:latin typeface="Calibri" pitchFamily="34" charset="0"/>
                          <a:ea typeface="Calibri" pitchFamily="34" charset="-122"/>
                          <a:cs typeface="Calibri" pitchFamily="34" charset="-120"/>
                        </a:rPr>
                        <a:t>0.40</a:t>
                      </a:r>
                      <a:endParaRPr lang="en-US" sz="1250" dirty="0">
                        <a:latin typeface="Calibri" charset="0"/>
                        <a:ea typeface="Calibri" charset="0"/>
                        <a:cs typeface="Calibri" charset="0"/>
                      </a:endParaRPr>
                    </a:p>
                  </a:txBody>
                  <a:tcPr marL="91440" marR="91440" marT="45720" marB="45720" anchor="ctr">
                    <a:lnL w="6350" cap="flat" cmpd="sng" algn="ctr">
                      <a:solidFill>
                        <a:srgbClr val="3A424A"/>
                      </a:solidFill>
                      <a:prstDash val="solid"/>
                      <a:round/>
                      <a:headEnd type="none" w="med" len="med"/>
                      <a:tailEnd type="none" w="med" len="med"/>
                    </a:lnL>
                    <a:lnR w="6350" cap="flat" cmpd="sng" algn="ctr">
                      <a:solidFill>
                        <a:srgbClr val="3A424A"/>
                      </a:solidFill>
                      <a:prstDash val="solid"/>
                      <a:round/>
                      <a:headEnd type="none" w="med" len="med"/>
                      <a:tailEnd type="none" w="med" len="med"/>
                    </a:lnR>
                    <a:lnT w="6350" cap="flat" cmpd="sng" algn="ctr">
                      <a:solidFill>
                        <a:srgbClr val="3A424A"/>
                      </a:solidFill>
                      <a:prstDash val="solid"/>
                      <a:round/>
                      <a:headEnd type="none" w="med" len="med"/>
                      <a:tailEnd type="none" w="med" len="med"/>
                    </a:lnT>
                    <a:lnB w="6350" cap="flat" cmpd="sng" algn="ctr">
                      <a:solidFill>
                        <a:srgbClr val="3A424A"/>
                      </a:solidFill>
                      <a:prstDash val="solid"/>
                      <a:round/>
                      <a:headEnd type="none" w="med" len="med"/>
                      <a:tailEnd type="none" w="med" len="med"/>
                    </a:lnB>
                    <a:solidFill>
                      <a:srgbClr val="14181C"/>
                    </a:solidFill>
                  </a:tcPr>
                </a:tc>
              </a:tr>
            </a:tbl>
          </a:graphicData>
        </a:graphic>
      </p:graphicFrame>
      <p:sp>
        <p:nvSpPr>
          <p:cNvPr id="7" name="Shape 3"/>
          <p:cNvSpPr/>
          <p:nvPr/>
        </p:nvSpPr>
        <p:spPr>
          <a:xfrm>
            <a:off x="7863840" y="2011680"/>
            <a:ext cx="3703320" cy="3108960"/>
          </a:xfrm>
          <a:prstGeom prst="roundRect">
            <a:avLst>
              <a:gd name="adj" fmla="val 2353"/>
            </a:avLst>
          </a:prstGeom>
          <a:solidFill>
            <a:srgbClr val="14181C"/>
          </a:solidFill>
          <a:ln w="12700">
            <a:solidFill>
              <a:srgbClr val="F2B90C"/>
            </a:solidFill>
            <a:prstDash val="solid"/>
          </a:ln>
        </p:spPr>
      </p:sp>
      <p:sp>
        <p:nvSpPr>
          <p:cNvPr id="8" name="Text 4"/>
          <p:cNvSpPr txBox="1"/>
          <p:nvPr/>
        </p:nvSpPr>
        <p:spPr>
          <a:xfrm>
            <a:off x="8138160" y="2194560"/>
            <a:ext cx="3108960" cy="365760"/>
          </a:xfrm>
          <a:prstGeom prst="rect">
            <a:avLst/>
          </a:prstGeom>
          <a:noFill/>
          <a:ln/>
        </p:spPr>
        <p:txBody>
          <a:bodyPr wrap="square" lIns="0" tIns="0" rIns="0" bIns="0" rtlCol="0" anchor="ctr"/>
          <a:lstStyle/>
          <a:p>
            <a:pPr indent="0" marL="0">
              <a:buNone/>
            </a:pPr>
            <a:r>
              <a:rPr lang="en-US" sz="1600" b="1" dirty="0">
                <a:solidFill>
                  <a:srgbClr val="F2B90C"/>
                </a:solidFill>
                <a:latin typeface="Arial" pitchFamily="34" charset="0"/>
                <a:ea typeface="Arial" pitchFamily="34" charset="-122"/>
                <a:cs typeface="Arial" pitchFamily="34" charset="-120"/>
              </a:rPr>
              <a:t>On Hard</a:t>
            </a:r>
            <a:endParaRPr lang="en-US" sz="1600" dirty="0"/>
          </a:p>
        </p:txBody>
      </p:sp>
      <p:sp>
        <p:nvSpPr>
          <p:cNvPr id="9" name="Text 5"/>
          <p:cNvSpPr txBox="1"/>
          <p:nvPr/>
        </p:nvSpPr>
        <p:spPr>
          <a:xfrm>
            <a:off x="8138160" y="2697480"/>
            <a:ext cx="3200400"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The building is genuinely darker and hazier</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Forklifts patrol; cartons actually fall</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Twelve safe lookalikes to reject</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You are not told how many hazards exist</a:t>
            </a:r>
            <a:endParaRPr lang="en-US" sz="1250" dirty="0"/>
          </a:p>
        </p:txBody>
      </p:sp>
      <p:sp>
        <p:nvSpPr>
          <p:cNvPr id="10" name="Text 6"/>
          <p:cNvSpPr txBox="1"/>
          <p:nvPr/>
        </p:nvSpPr>
        <p:spPr>
          <a:xfrm>
            <a:off x="640080" y="5943600"/>
            <a:ext cx="10911535" cy="320040"/>
          </a:xfrm>
          <a:prstGeom prst="rect">
            <a:avLst/>
          </a:prstGeom>
          <a:noFill/>
          <a:ln/>
        </p:spPr>
        <p:txBody>
          <a:bodyPr wrap="square" lIns="0" tIns="0" rIns="0" bIns="0" rtlCol="0" anchor="ctr"/>
          <a:lstStyle/>
          <a:p>
            <a:pPr indent="0" marL="0">
              <a:buNone/>
            </a:pPr>
            <a:r>
              <a:rPr lang="en-US" sz="1100" i="1" dirty="0">
                <a:solidFill>
                  <a:srgbClr val="A8B2BB"/>
                </a:solidFill>
                <a:latin typeface="Calibri" pitchFamily="34" charset="0"/>
                <a:ea typeface="Calibri" pitchFamily="34" charset="-122"/>
                <a:cs typeface="Calibri" pitchFamily="34" charset="-120"/>
              </a:rPr>
              <a:t>Background: the High-Bay Annexe on Hard — five levels, narrow aisles, reduced lighting.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MEASUREMENT</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000" b="1" dirty="0">
                <a:solidFill>
                  <a:srgbClr val="14181C"/>
                </a:solidFill>
                <a:latin typeface="Arial" pitchFamily="34" charset="0"/>
                <a:ea typeface="Arial" pitchFamily="34" charset="-122"/>
                <a:cs typeface="Arial" pitchFamily="34" charset="-120"/>
              </a:rPr>
              <a:t>Scoring rewards the judgement that matters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5669280" cy="914400"/>
        </p:xfrm>
        <a:graphic>
          <a:graphicData uri="http://schemas.openxmlformats.org/drawingml/2006/table">
            <a:tbl>
              <a:tblPr/>
              <a:tblGrid>
                <a:gridCol w="2377440"/>
                <a:gridCol w="1645920"/>
                <a:gridCol w="1645920"/>
              </a:tblGrid>
              <a:tr h="457200">
                <a:tc>
                  <a:txBody>
                    <a:bodyPr/>
                    <a:lstStyle/>
                    <a:p>
                      <a:pPr algn="l" indent="0" marL="0">
                        <a:buNone/>
                      </a:pPr>
                      <a:endParaRPr lang="en-US" sz="1100" dirty="0">
                        <a:latin typeface="Arial" charset="0"/>
                        <a:ea typeface="Arial" charset="0"/>
                        <a:cs typeface="Arial"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FAST</a:t>
                      </a:r>
                      <a:endParaRPr lang="en-US" sz="1100" dirty="0">
                        <a:latin typeface="Arial" charset="0"/>
                        <a:ea typeface="Arial" charset="0"/>
                        <a:cs typeface="Arial"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SLOW</a:t>
                      </a:r>
                      <a:endParaRPr lang="en-US" sz="1100" dirty="0">
                        <a:latin typeface="Arial" charset="0"/>
                        <a:ea typeface="Arial" charset="0"/>
                        <a:cs typeface="Arial"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14181C"/>
                    </a:solidFill>
                  </a:tcPr>
                </a:tc>
              </a:tr>
              <a:tr h="457200">
                <a:tc>
                  <a:txBody>
                    <a:bodyPr/>
                    <a:lstStyle/>
                    <a:p>
                      <a:pPr algn="l" indent="0" marL="0">
                        <a:buNone/>
                      </a:pPr>
                      <a:r>
                        <a:rPr lang="en-US" sz="1400" b="1" dirty="0">
                          <a:solidFill>
                            <a:srgbClr val="14181C"/>
                          </a:solidFill>
                          <a:latin typeface="Calibri" pitchFamily="34" charset="0"/>
                          <a:ea typeface="Calibri" pitchFamily="34" charset="-122"/>
                          <a:cs typeface="Calibri" pitchFamily="34" charset="-120"/>
                        </a:rPr>
                        <a:t>Major hazard</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81C"/>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81C"/>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4181C"/>
                          </a:solidFill>
                          <a:latin typeface="Calibri" pitchFamily="34" charset="0"/>
                          <a:ea typeface="Calibri" pitchFamily="34" charset="-122"/>
                          <a:cs typeface="Calibri" pitchFamily="34" charset="-120"/>
                        </a:rPr>
                        <a:t>Minor hazard</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1F3F5"/>
                    </a:solidFill>
                  </a:tcPr>
                </a:tc>
                <a:tc>
                  <a:txBody>
                    <a:bodyPr/>
                    <a:lstStyle/>
                    <a:p>
                      <a:pPr algn="ctr" indent="0" marL="0">
                        <a:buNone/>
                      </a:pPr>
                      <a:r>
                        <a:rPr lang="en-US" sz="1400" dirty="0">
                          <a:solidFill>
                            <a:srgbClr val="14181C"/>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1F3F5"/>
                    </a:solidFill>
                  </a:tcPr>
                </a:tc>
                <a:tc>
                  <a:txBody>
                    <a:bodyPr/>
                    <a:lstStyle/>
                    <a:p>
                      <a:pPr algn="ctr" indent="0" marL="0">
                        <a:buNone/>
                      </a:pPr>
                      <a:r>
                        <a:rPr lang="en-US" sz="1400" dirty="0">
                          <a:solidFill>
                            <a:srgbClr val="14181C"/>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1F3F5"/>
                    </a:solidFill>
                  </a:tcPr>
                </a:tc>
              </a:tr>
              <a:tr h="457200">
                <a:tc>
                  <a:txBody>
                    <a:bodyPr/>
                    <a:lstStyle/>
                    <a:p>
                      <a:pPr algn="l" indent="0" marL="0">
                        <a:buNone/>
                      </a:pPr>
                      <a:r>
                        <a:rPr lang="en-US" sz="1400" b="1" dirty="0">
                          <a:solidFill>
                            <a:srgbClr val="14181C"/>
                          </a:solidFill>
                          <a:latin typeface="Calibri" pitchFamily="34" charset="0"/>
                          <a:ea typeface="Calibri" pitchFamily="34" charset="-122"/>
                          <a:cs typeface="Calibri" pitchFamily="34" charset="-120"/>
                        </a:rPr>
                        <a:t>Wrong flag</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181C"/>
                          </a:solidFill>
                          <a:latin typeface="Calibri" pitchFamily="34" charset="0"/>
                          <a:ea typeface="Calibri" pitchFamily="34" charset="-122"/>
                          <a:cs typeface="Calibri" pitchFamily="34" charset="-120"/>
                        </a:rPr>
                        <a:t>0  + a safety tip</a:t>
                      </a: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91440" marR="91440" marT="45720" marB="45720" anchor="ctr">
                    <a:lnL w="6350" cap="flat" cmpd="sng" algn="ctr">
                      <a:solidFill>
                        <a:srgbClr val="DDE1E5"/>
                      </a:solidFill>
                      <a:prstDash val="solid"/>
                      <a:round/>
                      <a:headEnd type="none" w="med" len="med"/>
                      <a:tailEnd type="none" w="med" len="med"/>
                    </a:lnL>
                    <a:lnR w="6350" cap="flat" cmpd="sng" algn="ctr">
                      <a:solidFill>
                        <a:srgbClr val="DDE1E5"/>
                      </a:solidFill>
                      <a:prstDash val="solid"/>
                      <a:round/>
                      <a:headEnd type="none" w="med" len="med"/>
                      <a:tailEnd type="none" w="med" len="med"/>
                    </a:lnR>
                    <a:lnT w="6350" cap="flat" cmpd="sng" algn="ctr">
                      <a:solidFill>
                        <a:srgbClr val="DDE1E5"/>
                      </a:solidFill>
                      <a:prstDash val="solid"/>
                      <a:round/>
                      <a:headEnd type="none" w="med" len="med"/>
                      <a:tailEnd type="none" w="med" len="med"/>
                    </a:lnT>
                    <a:lnB w="6350" cap="flat" cmpd="sng" algn="ctr">
                      <a:solidFill>
                        <a:srgbClr val="DDE1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3657600"/>
            <a:ext cx="5669280" cy="914400"/>
          </a:xfrm>
          <a:prstGeom prst="rect">
            <a:avLst/>
          </a:prstGeom>
          <a:noFill/>
          <a:ln/>
        </p:spPr>
        <p:txBody>
          <a:bodyPr wrap="square" lIns="0" tIns="0" rIns="0" bIns="0" rtlCol="0" anchor="t"/>
          <a:lstStyle/>
          <a:p>
            <a:pPr algn="l" indent="0" marL="0">
              <a:lnSpc>
                <a:spcPct val="120000"/>
              </a:lnSpc>
              <a:buNone/>
            </a:pPr>
            <a:r>
              <a:rPr lang="en-US" sz="1300" dirty="0">
                <a:solidFill>
                  <a:srgbClr val="6B747D"/>
                </a:solidFill>
                <a:latin typeface="Calibri" pitchFamily="34" charset="0"/>
                <a:ea typeface="Calibri" pitchFamily="34" charset="-122"/>
                <a:cs typeface="Calibri" pitchFamily="34" charset="-120"/>
              </a:rPr>
              <a:t>A major hazard is worth three times a minor one. A trainee who prioritises vehicles, racking and edges over housekeeping is prioritising correctly — and the score should say so.</a:t>
            </a:r>
            <a:endParaRPr lang="en-US" sz="1300" dirty="0"/>
          </a:p>
        </p:txBody>
      </p:sp>
      <p:sp>
        <p:nvSpPr>
          <p:cNvPr id="6" name="Shape 3"/>
          <p:cNvSpPr/>
          <p:nvPr/>
        </p:nvSpPr>
        <p:spPr>
          <a:xfrm>
            <a:off x="6720840" y="1600200"/>
            <a:ext cx="4846320" cy="1371600"/>
          </a:xfrm>
          <a:prstGeom prst="roundRect">
            <a:avLst>
              <a:gd name="adj" fmla="val 5333"/>
            </a:avLst>
          </a:prstGeom>
          <a:solidFill>
            <a:srgbClr val="F1F3F5"/>
          </a:solidFill>
          <a:ln/>
          <a:effectLst>
            <a:outerShdw sx="100000" sy="100000" kx="0" ky="0" algn="bl" rotWithShape="0" blurRad="101600" dist="508" dir="5400000">
              <a:srgbClr val="000000">
                <a:alpha val="10000"/>
              </a:srgbClr>
            </a:outerShdw>
          </a:effectLst>
        </p:spPr>
      </p:sp>
      <p:sp>
        <p:nvSpPr>
          <p:cNvPr id="7" name="Text 4"/>
          <p:cNvSpPr txBox="1"/>
          <p:nvPr/>
        </p:nvSpPr>
        <p:spPr>
          <a:xfrm>
            <a:off x="6995160" y="1783080"/>
            <a:ext cx="1828800" cy="274320"/>
          </a:xfrm>
          <a:prstGeom prst="rect">
            <a:avLst/>
          </a:prstGeom>
          <a:noFill/>
          <a:ln/>
        </p:spPr>
        <p:txBody>
          <a:bodyPr wrap="square" lIns="0" tIns="0" rIns="0" bIns="0" rtlCol="0" anchor="ctr"/>
          <a:lstStyle/>
          <a:p>
            <a:pPr indent="0" marL="0">
              <a:buNone/>
            </a:pPr>
            <a:r>
              <a:rPr lang="en-US" sz="1000" b="1" spc="150" kern="0" dirty="0">
                <a:solidFill>
                  <a:srgbClr val="E07B12"/>
                </a:solidFill>
                <a:latin typeface="Calibri" pitchFamily="34" charset="0"/>
                <a:ea typeface="Calibri" pitchFamily="34" charset="-122"/>
                <a:cs typeface="Calibri" pitchFamily="34" charset="-120"/>
              </a:rPr>
              <a:t>COMBO</a:t>
            </a:r>
            <a:endParaRPr lang="en-US" sz="1000" dirty="0"/>
          </a:p>
        </p:txBody>
      </p:sp>
      <p:sp>
        <p:nvSpPr>
          <p:cNvPr id="8" name="Text 5"/>
          <p:cNvSpPr txBox="1"/>
          <p:nvPr/>
        </p:nvSpPr>
        <p:spPr>
          <a:xfrm>
            <a:off x="6995160" y="2103120"/>
            <a:ext cx="4297680" cy="365760"/>
          </a:xfrm>
          <a:prstGeom prst="rect">
            <a:avLst/>
          </a:prstGeom>
          <a:noFill/>
          <a:ln/>
        </p:spPr>
        <p:txBody>
          <a:bodyPr wrap="square" lIns="0" tIns="0" rIns="0" bIns="0" rtlCol="0" anchor="ctr"/>
          <a:lstStyle/>
          <a:p>
            <a:pPr indent="0" marL="0">
              <a:buNone/>
            </a:pPr>
            <a:r>
              <a:rPr lang="en-US" sz="1500" b="1" dirty="0">
                <a:solidFill>
                  <a:srgbClr val="14181C"/>
                </a:solidFill>
                <a:latin typeface="Arial" pitchFamily="34" charset="0"/>
                <a:ea typeface="Arial" pitchFamily="34" charset="-122"/>
                <a:cs typeface="Arial" pitchFamily="34" charset="-120"/>
              </a:rPr>
              <a:t>3 correct in a row  →  +3 on every find</a:t>
            </a:r>
            <a:endParaRPr lang="en-US" sz="1500" dirty="0"/>
          </a:p>
        </p:txBody>
      </p:sp>
      <p:sp>
        <p:nvSpPr>
          <p:cNvPr id="9" name="Text 6"/>
          <p:cNvSpPr txBox="1"/>
          <p:nvPr/>
        </p:nvSpPr>
        <p:spPr>
          <a:xfrm>
            <a:off x="6995160" y="2514600"/>
            <a:ext cx="4297680" cy="36576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Broken by a wrong flag. Spraying flags becomes a losing strategy.</a:t>
            </a:r>
            <a:endParaRPr lang="en-US" sz="1200" dirty="0"/>
          </a:p>
        </p:txBody>
      </p:sp>
      <p:sp>
        <p:nvSpPr>
          <p:cNvPr id="10" name="Text 7"/>
          <p:cNvSpPr txBox="1"/>
          <p:nvPr/>
        </p:nvSpPr>
        <p:spPr>
          <a:xfrm>
            <a:off x="6720840" y="3200400"/>
            <a:ext cx="2743200" cy="274320"/>
          </a:xfrm>
          <a:prstGeom prst="rect">
            <a:avLst/>
          </a:prstGeom>
          <a:noFill/>
          <a:ln/>
        </p:spPr>
        <p:txBody>
          <a:bodyPr wrap="square" lIns="0" tIns="0" rIns="0" bIns="0" rtlCol="0" anchor="ctr"/>
          <a:lstStyle/>
          <a:p>
            <a:pPr indent="0" marL="0">
              <a:buNone/>
            </a:pPr>
            <a:r>
              <a:rPr lang="en-US" sz="1000" b="1" spc="150" kern="0" dirty="0">
                <a:solidFill>
                  <a:srgbClr val="6B747D"/>
                </a:solidFill>
                <a:latin typeface="Calibri" pitchFamily="34" charset="0"/>
                <a:ea typeface="Calibri" pitchFamily="34" charset="-122"/>
                <a:cs typeface="Calibri" pitchFamily="34" charset="-120"/>
              </a:rPr>
              <a:t>RANKS</a:t>
            </a:r>
            <a:endParaRPr lang="en-US" sz="1000" dirty="0"/>
          </a:p>
        </p:txBody>
      </p:sp>
      <p:sp>
        <p:nvSpPr>
          <p:cNvPr id="11" name="Shape 8"/>
          <p:cNvSpPr/>
          <p:nvPr/>
        </p:nvSpPr>
        <p:spPr>
          <a:xfrm>
            <a:off x="6720840" y="3566160"/>
            <a:ext cx="4846320" cy="548640"/>
          </a:xfrm>
          <a:prstGeom prst="roundRect">
            <a:avLst>
              <a:gd name="adj" fmla="val 13333"/>
            </a:avLst>
          </a:prstGeom>
          <a:solidFill>
            <a:srgbClr val="F1F3F5"/>
          </a:solidFill>
          <a:ln/>
        </p:spPr>
      </p:sp>
      <p:sp>
        <p:nvSpPr>
          <p:cNvPr id="12" name="Shape 9"/>
          <p:cNvSpPr/>
          <p:nvPr/>
        </p:nvSpPr>
        <p:spPr>
          <a:xfrm>
            <a:off x="6949440" y="3712464"/>
            <a:ext cx="256032" cy="256032"/>
          </a:xfrm>
          <a:prstGeom prst="ellipse">
            <a:avLst/>
          </a:prstGeom>
          <a:solidFill>
            <a:srgbClr val="1F8A4C"/>
          </a:solidFill>
          <a:ln/>
        </p:spPr>
      </p:sp>
      <p:sp>
        <p:nvSpPr>
          <p:cNvPr id="13" name="Text 10"/>
          <p:cNvSpPr txBox="1"/>
          <p:nvPr/>
        </p:nvSpPr>
        <p:spPr>
          <a:xfrm>
            <a:off x="7360920" y="3566160"/>
            <a:ext cx="2743200" cy="548640"/>
          </a:xfrm>
          <a:prstGeom prst="rect">
            <a:avLst/>
          </a:prstGeom>
          <a:noFill/>
          <a:ln/>
        </p:spPr>
        <p:txBody>
          <a:bodyPr wrap="square" lIns="0" tIns="0" rIns="0" bIns="0" rtlCol="0" anchor="ctr"/>
          <a:lstStyle/>
          <a:p>
            <a:pPr indent="0" marL="0">
              <a:buNone/>
            </a:pPr>
            <a:r>
              <a:rPr lang="en-US" sz="1400" b="1" dirty="0">
                <a:solidFill>
                  <a:srgbClr val="14181C"/>
                </a:solidFill>
                <a:latin typeface="Calibri" pitchFamily="34" charset="0"/>
                <a:ea typeface="Calibri" pitchFamily="34" charset="-122"/>
                <a:cs typeface="Calibri" pitchFamily="34" charset="-120"/>
              </a:rPr>
              <a:t>Safety Champion</a:t>
            </a:r>
            <a:endParaRPr lang="en-US" sz="1400" dirty="0"/>
          </a:p>
        </p:txBody>
      </p:sp>
      <p:sp>
        <p:nvSpPr>
          <p:cNvPr id="14" name="Text 11"/>
          <p:cNvSpPr txBox="1"/>
          <p:nvPr/>
        </p:nvSpPr>
        <p:spPr>
          <a:xfrm>
            <a:off x="10058400" y="3566160"/>
            <a:ext cx="1280160" cy="548640"/>
          </a:xfrm>
          <a:prstGeom prst="rect">
            <a:avLst/>
          </a:prstGeom>
          <a:noFill/>
          <a:ln/>
        </p:spPr>
        <p:txBody>
          <a:bodyPr wrap="square" lIns="0" tIns="0" rIns="0" bIns="0" rtlCol="0" anchor="ctr"/>
          <a:lstStyle/>
          <a:p>
            <a:pPr algn="r" indent="0" marL="0">
              <a:buNone/>
            </a:pPr>
            <a:r>
              <a:rPr lang="en-US" sz="1400" b="1" dirty="0">
                <a:solidFill>
                  <a:srgbClr val="1F8A4C"/>
                </a:solidFill>
                <a:latin typeface="Arial" pitchFamily="34" charset="0"/>
                <a:ea typeface="Arial" pitchFamily="34" charset="-122"/>
                <a:cs typeface="Arial" pitchFamily="34" charset="-120"/>
              </a:rPr>
              <a:t>50+</a:t>
            </a:r>
            <a:endParaRPr lang="en-US" sz="1400" dirty="0"/>
          </a:p>
        </p:txBody>
      </p:sp>
      <p:sp>
        <p:nvSpPr>
          <p:cNvPr id="15" name="Shape 12"/>
          <p:cNvSpPr/>
          <p:nvPr/>
        </p:nvSpPr>
        <p:spPr>
          <a:xfrm>
            <a:off x="6720840" y="4224528"/>
            <a:ext cx="4846320" cy="548640"/>
          </a:xfrm>
          <a:prstGeom prst="roundRect">
            <a:avLst>
              <a:gd name="adj" fmla="val 13333"/>
            </a:avLst>
          </a:prstGeom>
          <a:solidFill>
            <a:srgbClr val="F1F3F5"/>
          </a:solidFill>
          <a:ln/>
        </p:spPr>
      </p:sp>
      <p:sp>
        <p:nvSpPr>
          <p:cNvPr id="16" name="Shape 13"/>
          <p:cNvSpPr/>
          <p:nvPr/>
        </p:nvSpPr>
        <p:spPr>
          <a:xfrm>
            <a:off x="6949440" y="4370832"/>
            <a:ext cx="256032" cy="256032"/>
          </a:xfrm>
          <a:prstGeom prst="ellipse">
            <a:avLst/>
          </a:prstGeom>
          <a:solidFill>
            <a:srgbClr val="F2B90C"/>
          </a:solidFill>
          <a:ln/>
        </p:spPr>
      </p:sp>
      <p:sp>
        <p:nvSpPr>
          <p:cNvPr id="17" name="Text 14"/>
          <p:cNvSpPr txBox="1"/>
          <p:nvPr/>
        </p:nvSpPr>
        <p:spPr>
          <a:xfrm>
            <a:off x="7360920" y="4224528"/>
            <a:ext cx="2743200" cy="548640"/>
          </a:xfrm>
          <a:prstGeom prst="rect">
            <a:avLst/>
          </a:prstGeom>
          <a:noFill/>
          <a:ln/>
        </p:spPr>
        <p:txBody>
          <a:bodyPr wrap="square" lIns="0" tIns="0" rIns="0" bIns="0" rtlCol="0" anchor="ctr"/>
          <a:lstStyle/>
          <a:p>
            <a:pPr indent="0" marL="0">
              <a:buNone/>
            </a:pPr>
            <a:r>
              <a:rPr lang="en-US" sz="1400" b="1" dirty="0">
                <a:solidFill>
                  <a:srgbClr val="14181C"/>
                </a:solidFill>
                <a:latin typeface="Calibri" pitchFamily="34" charset="0"/>
                <a:ea typeface="Calibri" pitchFamily="34" charset="-122"/>
                <a:cs typeface="Calibri" pitchFamily="34" charset="-120"/>
              </a:rPr>
              <a:t>Getting There</a:t>
            </a:r>
            <a:endParaRPr lang="en-US" sz="1400" dirty="0"/>
          </a:p>
        </p:txBody>
      </p:sp>
      <p:sp>
        <p:nvSpPr>
          <p:cNvPr id="18" name="Text 15"/>
          <p:cNvSpPr txBox="1"/>
          <p:nvPr/>
        </p:nvSpPr>
        <p:spPr>
          <a:xfrm>
            <a:off x="10058400" y="4224528"/>
            <a:ext cx="1280160" cy="548640"/>
          </a:xfrm>
          <a:prstGeom prst="rect">
            <a:avLst/>
          </a:prstGeom>
          <a:noFill/>
          <a:ln/>
        </p:spPr>
        <p:txBody>
          <a:bodyPr wrap="square" lIns="0" tIns="0" rIns="0" bIns="0" rtlCol="0" anchor="ctr"/>
          <a:lstStyle/>
          <a:p>
            <a:pPr algn="r" indent="0" marL="0">
              <a:buNone/>
            </a:pPr>
            <a:r>
              <a:rPr lang="en-US" sz="1400" b="1" dirty="0">
                <a:solidFill>
                  <a:srgbClr val="F2B90C"/>
                </a:solidFill>
                <a:latin typeface="Arial" pitchFamily="34" charset="0"/>
                <a:ea typeface="Arial" pitchFamily="34" charset="-122"/>
                <a:cs typeface="Arial" pitchFamily="34" charset="-120"/>
              </a:rPr>
              <a:t>30 – 49</a:t>
            </a:r>
            <a:endParaRPr lang="en-US" sz="1400" dirty="0"/>
          </a:p>
        </p:txBody>
      </p:sp>
      <p:sp>
        <p:nvSpPr>
          <p:cNvPr id="19" name="Shape 16"/>
          <p:cNvSpPr/>
          <p:nvPr/>
        </p:nvSpPr>
        <p:spPr>
          <a:xfrm>
            <a:off x="6720840" y="4882896"/>
            <a:ext cx="4846320" cy="548640"/>
          </a:xfrm>
          <a:prstGeom prst="roundRect">
            <a:avLst>
              <a:gd name="adj" fmla="val 13333"/>
            </a:avLst>
          </a:prstGeom>
          <a:solidFill>
            <a:srgbClr val="F1F3F5"/>
          </a:solidFill>
          <a:ln/>
        </p:spPr>
      </p:sp>
      <p:sp>
        <p:nvSpPr>
          <p:cNvPr id="20" name="Shape 17"/>
          <p:cNvSpPr/>
          <p:nvPr/>
        </p:nvSpPr>
        <p:spPr>
          <a:xfrm>
            <a:off x="6949440" y="5029200"/>
            <a:ext cx="256032" cy="256032"/>
          </a:xfrm>
          <a:prstGeom prst="ellipse">
            <a:avLst/>
          </a:prstGeom>
          <a:solidFill>
            <a:srgbClr val="C0182A"/>
          </a:solidFill>
          <a:ln/>
        </p:spPr>
      </p:sp>
      <p:sp>
        <p:nvSpPr>
          <p:cNvPr id="21" name="Text 18"/>
          <p:cNvSpPr txBox="1"/>
          <p:nvPr/>
        </p:nvSpPr>
        <p:spPr>
          <a:xfrm>
            <a:off x="7360920" y="4882896"/>
            <a:ext cx="2743200" cy="548640"/>
          </a:xfrm>
          <a:prstGeom prst="rect">
            <a:avLst/>
          </a:prstGeom>
          <a:noFill/>
          <a:ln/>
        </p:spPr>
        <p:txBody>
          <a:bodyPr wrap="square" lIns="0" tIns="0" rIns="0" bIns="0" rtlCol="0" anchor="ctr"/>
          <a:lstStyle/>
          <a:p>
            <a:pPr indent="0" marL="0">
              <a:buNone/>
            </a:pPr>
            <a:r>
              <a:rPr lang="en-US" sz="1400" b="1" dirty="0">
                <a:solidFill>
                  <a:srgbClr val="14181C"/>
                </a:solidFill>
                <a:latin typeface="Calibri" pitchFamily="34" charset="0"/>
                <a:ea typeface="Calibri" pitchFamily="34" charset="-122"/>
                <a:cs typeface="Calibri" pitchFamily="34" charset="-120"/>
              </a:rPr>
              <a:t>Needs Practice</a:t>
            </a:r>
            <a:endParaRPr lang="en-US" sz="1400" dirty="0"/>
          </a:p>
        </p:txBody>
      </p:sp>
      <p:sp>
        <p:nvSpPr>
          <p:cNvPr id="22" name="Text 19"/>
          <p:cNvSpPr txBox="1"/>
          <p:nvPr/>
        </p:nvSpPr>
        <p:spPr>
          <a:xfrm>
            <a:off x="10058400" y="4882896"/>
            <a:ext cx="1280160" cy="548640"/>
          </a:xfrm>
          <a:prstGeom prst="rect">
            <a:avLst/>
          </a:prstGeom>
          <a:noFill/>
          <a:ln/>
        </p:spPr>
        <p:txBody>
          <a:bodyPr wrap="square" lIns="0" tIns="0" rIns="0" bIns="0" rtlCol="0" anchor="ctr"/>
          <a:lstStyle/>
          <a:p>
            <a:pPr algn="r" indent="0" marL="0">
              <a:buNone/>
            </a:pPr>
            <a:r>
              <a:rPr lang="en-US" sz="1400" b="1" dirty="0">
                <a:solidFill>
                  <a:srgbClr val="C0182A"/>
                </a:solidFill>
                <a:latin typeface="Arial" pitchFamily="34" charset="0"/>
                <a:ea typeface="Arial" pitchFamily="34" charset="-122"/>
                <a:cs typeface="Arial" pitchFamily="34" charset="-120"/>
              </a:rPr>
              <a:t>Below 30</a:t>
            </a:r>
            <a:endParaRPr lang="en-US" sz="1400" dirty="0"/>
          </a:p>
        </p:txBody>
      </p:sp>
      <p:sp>
        <p:nvSpPr>
          <p:cNvPr id="23" name="Text 20"/>
          <p:cNvSpPr txBox="1"/>
          <p:nvPr/>
        </p:nvSpPr>
        <p:spPr>
          <a:xfrm>
            <a:off x="640080" y="5760720"/>
            <a:ext cx="10881360" cy="457200"/>
          </a:xfrm>
          <a:prstGeom prst="rect">
            <a:avLst/>
          </a:prstGeom>
          <a:noFill/>
          <a:ln/>
        </p:spPr>
        <p:txBody>
          <a:bodyPr wrap="square" lIns="0" tIns="0" rIns="0" bIns="0" rtlCol="0" anchor="t"/>
          <a:lstStyle/>
          <a:p>
            <a:pPr algn="l" indent="0" marL="0">
              <a:lnSpc>
                <a:spcPct val="120000"/>
              </a:lnSpc>
              <a:buNone/>
            </a:pPr>
            <a:r>
              <a:rPr lang="en-US" sz="1250" i="1" dirty="0">
                <a:solidFill>
                  <a:srgbClr val="6B747D"/>
                </a:solidFill>
                <a:latin typeface="Calibri" pitchFamily="34" charset="0"/>
                <a:ea typeface="Calibri" pitchFamily="34" charset="-122"/>
                <a:cs typeface="Calibri" pitchFamily="34" charset="-120"/>
              </a:rPr>
              <a:t>Every value here lives in one configuration file and can be retuned to a client's own standards without touching game code.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CONTENT</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000" b="1" dirty="0">
                <a:solidFill>
                  <a:srgbClr val="14181C"/>
                </a:solidFill>
                <a:latin typeface="Arial" pitchFamily="34" charset="0"/>
                <a:ea typeface="Arial" pitchFamily="34" charset="-122"/>
                <a:cs typeface="Arial" pitchFamily="34" charset="-120"/>
              </a:rPr>
              <a:t>Three warehouses, three risk profiles</a:t>
            </a:r>
            <a:endParaRPr lang="en-US" sz="3000" dirty="0"/>
          </a:p>
        </p:txBody>
      </p:sp>
      <p:sp>
        <p:nvSpPr>
          <p:cNvPr id="4" name="Shape 2"/>
          <p:cNvSpPr/>
          <p:nvPr/>
        </p:nvSpPr>
        <p:spPr>
          <a:xfrm>
            <a:off x="640080" y="1508760"/>
            <a:ext cx="3484778" cy="4160520"/>
          </a:xfrm>
          <a:prstGeom prst="roundRect">
            <a:avLst>
              <a:gd name="adj" fmla="val 2099"/>
            </a:avLst>
          </a:prstGeom>
          <a:solidFill>
            <a:srgbClr val="F1F3F5"/>
          </a:solidFill>
          <a:ln/>
          <a:effectLst>
            <a:outerShdw sx="100000" sy="100000" kx="0" ky="0" algn="bl" rotWithShape="0" blurRad="101600" dist="508" dir="5400000">
              <a:srgbClr val="000000">
                <a:alpha val="10000"/>
              </a:srgbClr>
            </a:outerShdw>
          </a:effectLst>
        </p:spPr>
      </p:sp>
      <p:pic>
        <p:nvPicPr>
          <p:cNvPr id="5" name="Image 0" descr="C:\Users\acer\Desktop\interprize_project\ppt\shots\opt\env01_wide.jpg">    </p:cNvPr>
          <p:cNvPicPr>
            <a:picLocks noChangeAspect="1"/>
          </p:cNvPicPr>
          <p:nvPr/>
        </p:nvPicPr>
        <p:blipFill>
          <a:blip r:embed="rId1"/>
          <a:srcRect l="0" r="0" t="26" b="26"/>
          <a:stretch/>
        </p:blipFill>
        <p:spPr>
          <a:xfrm>
            <a:off x="640994" y="1508760"/>
            <a:ext cx="3484778" cy="1691640"/>
          </a:xfrm>
          <a:prstGeom prst="rect">
            <a:avLst/>
          </a:prstGeom>
        </p:spPr>
      </p:pic>
      <p:sp>
        <p:nvSpPr>
          <p:cNvPr id="6" name="Text 3"/>
          <p:cNvSpPr txBox="1"/>
          <p:nvPr/>
        </p:nvSpPr>
        <p:spPr>
          <a:xfrm>
            <a:off x="868680" y="3291840"/>
            <a:ext cx="914400" cy="365760"/>
          </a:xfrm>
          <a:prstGeom prst="rect">
            <a:avLst/>
          </a:prstGeom>
          <a:noFill/>
          <a:ln/>
        </p:spPr>
        <p:txBody>
          <a:bodyPr wrap="square" lIns="0" tIns="0" rIns="0" bIns="0" rtlCol="0" anchor="ctr"/>
          <a:lstStyle/>
          <a:p>
            <a:pPr indent="0" marL="0">
              <a:buNone/>
            </a:pPr>
            <a:r>
              <a:rPr lang="en-US" sz="2000" b="1" dirty="0">
                <a:solidFill>
                  <a:srgbClr val="F2B90C"/>
                </a:solidFill>
                <a:latin typeface="Arial" pitchFamily="34" charset="0"/>
                <a:ea typeface="Arial" pitchFamily="34" charset="-122"/>
                <a:cs typeface="Arial" pitchFamily="34" charset="-120"/>
              </a:rPr>
              <a:t>01</a:t>
            </a:r>
            <a:endParaRPr lang="en-US" sz="2000" dirty="0"/>
          </a:p>
        </p:txBody>
      </p:sp>
      <p:sp>
        <p:nvSpPr>
          <p:cNvPr id="7" name="Text 4"/>
          <p:cNvSpPr txBox="1"/>
          <p:nvPr/>
        </p:nvSpPr>
        <p:spPr>
          <a:xfrm>
            <a:off x="868680" y="3657600"/>
            <a:ext cx="3027578" cy="411480"/>
          </a:xfrm>
          <a:prstGeom prst="rect">
            <a:avLst/>
          </a:prstGeom>
          <a:noFill/>
          <a:ln/>
        </p:spPr>
        <p:txBody>
          <a:bodyPr wrap="square" lIns="0" tIns="0" rIns="0" bIns="0" rtlCol="0" anchor="t"/>
          <a:lstStyle/>
          <a:p>
            <a:pPr indent="0" marL="0">
              <a:buNone/>
            </a:pPr>
            <a:r>
              <a:rPr lang="en-US" sz="1500" b="1" dirty="0">
                <a:solidFill>
                  <a:srgbClr val="14181C"/>
                </a:solidFill>
                <a:latin typeface="Arial" pitchFamily="34" charset="0"/>
                <a:ea typeface="Arial" pitchFamily="34" charset="-122"/>
                <a:cs typeface="Arial" pitchFamily="34" charset="-120"/>
              </a:rPr>
              <a:t>Main Storage Hall</a:t>
            </a:r>
            <a:endParaRPr lang="en-US" sz="1500" dirty="0"/>
          </a:p>
        </p:txBody>
      </p:sp>
      <p:sp>
        <p:nvSpPr>
          <p:cNvPr id="8" name="Text 5"/>
          <p:cNvSpPr txBox="1"/>
          <p:nvPr/>
        </p:nvSpPr>
        <p:spPr>
          <a:xfrm>
            <a:off x="868680" y="4114800"/>
            <a:ext cx="3027578" cy="96012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General storage. Four racking runs, a central pedestrian spine, an active forklift aisle.</a:t>
            </a:r>
            <a:endParaRPr lang="en-US" sz="1200" dirty="0"/>
          </a:p>
        </p:txBody>
      </p:sp>
      <p:sp>
        <p:nvSpPr>
          <p:cNvPr id="9" name="Text 6"/>
          <p:cNvSpPr txBox="1"/>
          <p:nvPr/>
        </p:nvSpPr>
        <p:spPr>
          <a:xfrm>
            <a:off x="868680" y="5166360"/>
            <a:ext cx="3027578" cy="320040"/>
          </a:xfrm>
          <a:prstGeom prst="rect">
            <a:avLst/>
          </a:prstGeom>
          <a:noFill/>
          <a:ln/>
        </p:spPr>
        <p:txBody>
          <a:bodyPr wrap="square" lIns="0" tIns="0" rIns="0" bIns="0" rtlCol="0" anchor="ctr"/>
          <a:lstStyle/>
          <a:p>
            <a:pPr indent="0" marL="0">
              <a:buNone/>
            </a:pPr>
            <a:r>
              <a:rPr lang="en-US" sz="1100" b="1" dirty="0">
                <a:solidFill>
                  <a:srgbClr val="E07B12"/>
                </a:solidFill>
                <a:latin typeface="Calibri" pitchFamily="34" charset="0"/>
                <a:ea typeface="Calibri" pitchFamily="34" charset="-122"/>
                <a:cs typeface="Calibri" pitchFamily="34" charset="-120"/>
              </a:rPr>
              <a:t>15 hazards   ·   62 × 44 m</a:t>
            </a:r>
            <a:endParaRPr lang="en-US" sz="1100" dirty="0"/>
          </a:p>
        </p:txBody>
      </p:sp>
      <p:sp>
        <p:nvSpPr>
          <p:cNvPr id="10" name="Shape 7"/>
          <p:cNvSpPr/>
          <p:nvPr/>
        </p:nvSpPr>
        <p:spPr>
          <a:xfrm>
            <a:off x="4353458" y="1508760"/>
            <a:ext cx="3484778" cy="4160520"/>
          </a:xfrm>
          <a:prstGeom prst="roundRect">
            <a:avLst>
              <a:gd name="adj" fmla="val 2099"/>
            </a:avLst>
          </a:prstGeom>
          <a:solidFill>
            <a:srgbClr val="F1F3F5"/>
          </a:solidFill>
          <a:ln/>
          <a:effectLst>
            <a:outerShdw sx="100000" sy="100000" kx="0" ky="0" algn="bl" rotWithShape="0" blurRad="101600" dist="508" dir="5400000">
              <a:srgbClr val="000000">
                <a:alpha val="10000"/>
              </a:srgbClr>
            </a:outerShdw>
          </a:effectLst>
        </p:spPr>
      </p:sp>
      <p:pic>
        <p:nvPicPr>
          <p:cNvPr id="11" name="Image 1" descr="C:\Users\acer\Desktop\interprize_project\ppt\shots\opt\env01_walkway.jpg">    </p:cNvPr>
          <p:cNvPicPr>
            <a:picLocks noChangeAspect="1"/>
          </p:cNvPicPr>
          <p:nvPr/>
        </p:nvPicPr>
        <p:blipFill>
          <a:blip r:embed="rId2"/>
          <a:srcRect l="0" r="0" t="26" b="26"/>
          <a:stretch/>
        </p:blipFill>
        <p:spPr>
          <a:xfrm>
            <a:off x="4354373" y="1508760"/>
            <a:ext cx="3484778" cy="1691640"/>
          </a:xfrm>
          <a:prstGeom prst="rect">
            <a:avLst/>
          </a:prstGeom>
        </p:spPr>
      </p:pic>
      <p:sp>
        <p:nvSpPr>
          <p:cNvPr id="12" name="Text 8"/>
          <p:cNvSpPr txBox="1"/>
          <p:nvPr/>
        </p:nvSpPr>
        <p:spPr>
          <a:xfrm>
            <a:off x="4582058" y="3291840"/>
            <a:ext cx="914400" cy="365760"/>
          </a:xfrm>
          <a:prstGeom prst="rect">
            <a:avLst/>
          </a:prstGeom>
          <a:noFill/>
          <a:ln/>
        </p:spPr>
        <p:txBody>
          <a:bodyPr wrap="square" lIns="0" tIns="0" rIns="0" bIns="0" rtlCol="0" anchor="ctr"/>
          <a:lstStyle/>
          <a:p>
            <a:pPr indent="0" marL="0">
              <a:buNone/>
            </a:pPr>
            <a:r>
              <a:rPr lang="en-US" sz="2000" b="1" dirty="0">
                <a:solidFill>
                  <a:srgbClr val="F2B90C"/>
                </a:solidFill>
                <a:latin typeface="Arial" pitchFamily="34" charset="0"/>
                <a:ea typeface="Arial" pitchFamily="34" charset="-122"/>
                <a:cs typeface="Arial" pitchFamily="34" charset="-120"/>
              </a:rPr>
              <a:t>02</a:t>
            </a:r>
            <a:endParaRPr lang="en-US" sz="2000" dirty="0"/>
          </a:p>
        </p:txBody>
      </p:sp>
      <p:sp>
        <p:nvSpPr>
          <p:cNvPr id="13" name="Text 9"/>
          <p:cNvSpPr txBox="1"/>
          <p:nvPr/>
        </p:nvSpPr>
        <p:spPr>
          <a:xfrm>
            <a:off x="4582058" y="3657600"/>
            <a:ext cx="3027578" cy="411480"/>
          </a:xfrm>
          <a:prstGeom prst="rect">
            <a:avLst/>
          </a:prstGeom>
          <a:noFill/>
          <a:ln/>
        </p:spPr>
        <p:txBody>
          <a:bodyPr wrap="square" lIns="0" tIns="0" rIns="0" bIns="0" rtlCol="0" anchor="t"/>
          <a:lstStyle/>
          <a:p>
            <a:pPr indent="0" marL="0">
              <a:buNone/>
            </a:pPr>
            <a:r>
              <a:rPr lang="en-US" sz="1500" b="1" dirty="0">
                <a:solidFill>
                  <a:srgbClr val="14181C"/>
                </a:solidFill>
                <a:latin typeface="Arial" pitchFamily="34" charset="0"/>
                <a:ea typeface="Arial" pitchFamily="34" charset="-122"/>
                <a:cs typeface="Arial" pitchFamily="34" charset="-120"/>
              </a:rPr>
              <a:t>Loading &amp; Dispatch Bay</a:t>
            </a:r>
            <a:endParaRPr lang="en-US" sz="1500" dirty="0"/>
          </a:p>
        </p:txBody>
      </p:sp>
      <p:sp>
        <p:nvSpPr>
          <p:cNvPr id="14" name="Text 10"/>
          <p:cNvSpPr txBox="1"/>
          <p:nvPr/>
        </p:nvSpPr>
        <p:spPr>
          <a:xfrm>
            <a:off x="4582058" y="4114800"/>
            <a:ext cx="3027578" cy="96012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Cross-dock. Six dock doors, constant vehicle movement, marshalling housekeeping.</a:t>
            </a:r>
            <a:endParaRPr lang="en-US" sz="1200" dirty="0"/>
          </a:p>
        </p:txBody>
      </p:sp>
      <p:sp>
        <p:nvSpPr>
          <p:cNvPr id="15" name="Text 11"/>
          <p:cNvSpPr txBox="1"/>
          <p:nvPr/>
        </p:nvSpPr>
        <p:spPr>
          <a:xfrm>
            <a:off x="4582058" y="5166360"/>
            <a:ext cx="3027578" cy="320040"/>
          </a:xfrm>
          <a:prstGeom prst="rect">
            <a:avLst/>
          </a:prstGeom>
          <a:noFill/>
          <a:ln/>
        </p:spPr>
        <p:txBody>
          <a:bodyPr wrap="square" lIns="0" tIns="0" rIns="0" bIns="0" rtlCol="0" anchor="ctr"/>
          <a:lstStyle/>
          <a:p>
            <a:pPr indent="0" marL="0">
              <a:buNone/>
            </a:pPr>
            <a:r>
              <a:rPr lang="en-US" sz="1100" b="1" dirty="0">
                <a:solidFill>
                  <a:srgbClr val="E07B12"/>
                </a:solidFill>
                <a:latin typeface="Calibri" pitchFamily="34" charset="0"/>
                <a:ea typeface="Calibri" pitchFamily="34" charset="-122"/>
                <a:cs typeface="Calibri" pitchFamily="34" charset="-120"/>
              </a:rPr>
              <a:t>12 hazards   ·   70 × 30 m</a:t>
            </a:r>
            <a:endParaRPr lang="en-US" sz="1100" dirty="0"/>
          </a:p>
        </p:txBody>
      </p:sp>
      <p:sp>
        <p:nvSpPr>
          <p:cNvPr id="16" name="Shape 12"/>
          <p:cNvSpPr/>
          <p:nvPr/>
        </p:nvSpPr>
        <p:spPr>
          <a:xfrm>
            <a:off x="8066837" y="1508760"/>
            <a:ext cx="3484778" cy="4160520"/>
          </a:xfrm>
          <a:prstGeom prst="roundRect">
            <a:avLst>
              <a:gd name="adj" fmla="val 2099"/>
            </a:avLst>
          </a:prstGeom>
          <a:solidFill>
            <a:srgbClr val="F1F3F5"/>
          </a:solidFill>
          <a:ln/>
          <a:effectLst>
            <a:outerShdw sx="100000" sy="100000" kx="0" ky="0" algn="bl" rotWithShape="0" blurRad="101600" dist="508" dir="5400000">
              <a:srgbClr val="000000">
                <a:alpha val="10000"/>
              </a:srgbClr>
            </a:outerShdw>
          </a:effectLst>
        </p:spPr>
      </p:sp>
      <p:pic>
        <p:nvPicPr>
          <p:cNvPr id="17" name="Image 2" descr="C:\Users\acer\Desktop\interprize_project\ppt\shots\opt\env03_aisle.jpg">    </p:cNvPr>
          <p:cNvPicPr>
            <a:picLocks noChangeAspect="1"/>
          </p:cNvPicPr>
          <p:nvPr/>
        </p:nvPicPr>
        <p:blipFill>
          <a:blip r:embed="rId3"/>
          <a:srcRect l="0" r="0" t="26" b="26"/>
          <a:stretch/>
        </p:blipFill>
        <p:spPr>
          <a:xfrm>
            <a:off x="8067751" y="1508760"/>
            <a:ext cx="3484778" cy="1691640"/>
          </a:xfrm>
          <a:prstGeom prst="rect">
            <a:avLst/>
          </a:prstGeom>
        </p:spPr>
      </p:pic>
      <p:sp>
        <p:nvSpPr>
          <p:cNvPr id="18" name="Text 13"/>
          <p:cNvSpPr txBox="1"/>
          <p:nvPr/>
        </p:nvSpPr>
        <p:spPr>
          <a:xfrm>
            <a:off x="8295437" y="3291840"/>
            <a:ext cx="914400" cy="365760"/>
          </a:xfrm>
          <a:prstGeom prst="rect">
            <a:avLst/>
          </a:prstGeom>
          <a:noFill/>
          <a:ln/>
        </p:spPr>
        <p:txBody>
          <a:bodyPr wrap="square" lIns="0" tIns="0" rIns="0" bIns="0" rtlCol="0" anchor="ctr"/>
          <a:lstStyle/>
          <a:p>
            <a:pPr indent="0" marL="0">
              <a:buNone/>
            </a:pPr>
            <a:r>
              <a:rPr lang="en-US" sz="2000" b="1" dirty="0">
                <a:solidFill>
                  <a:srgbClr val="F2B90C"/>
                </a:solidFill>
                <a:latin typeface="Arial" pitchFamily="34" charset="0"/>
                <a:ea typeface="Arial" pitchFamily="34" charset="-122"/>
                <a:cs typeface="Arial" pitchFamily="34" charset="-120"/>
              </a:rPr>
              <a:t>03</a:t>
            </a:r>
            <a:endParaRPr lang="en-US" sz="2000" dirty="0"/>
          </a:p>
        </p:txBody>
      </p:sp>
      <p:sp>
        <p:nvSpPr>
          <p:cNvPr id="19" name="Text 14"/>
          <p:cNvSpPr txBox="1"/>
          <p:nvPr/>
        </p:nvSpPr>
        <p:spPr>
          <a:xfrm>
            <a:off x="8295437" y="3657600"/>
            <a:ext cx="3027578" cy="411480"/>
          </a:xfrm>
          <a:prstGeom prst="rect">
            <a:avLst/>
          </a:prstGeom>
          <a:noFill/>
          <a:ln/>
        </p:spPr>
        <p:txBody>
          <a:bodyPr wrap="square" lIns="0" tIns="0" rIns="0" bIns="0" rtlCol="0" anchor="t"/>
          <a:lstStyle/>
          <a:p>
            <a:pPr indent="0" marL="0">
              <a:buNone/>
            </a:pPr>
            <a:r>
              <a:rPr lang="en-US" sz="1500" b="1" dirty="0">
                <a:solidFill>
                  <a:srgbClr val="14181C"/>
                </a:solidFill>
                <a:latin typeface="Arial" pitchFamily="34" charset="0"/>
                <a:ea typeface="Arial" pitchFamily="34" charset="-122"/>
                <a:cs typeface="Arial" pitchFamily="34" charset="-120"/>
              </a:rPr>
              <a:t>High-Bay Annexe</a:t>
            </a:r>
            <a:endParaRPr lang="en-US" sz="1500" dirty="0"/>
          </a:p>
        </p:txBody>
      </p:sp>
      <p:sp>
        <p:nvSpPr>
          <p:cNvPr id="20" name="Text 15"/>
          <p:cNvSpPr txBox="1"/>
          <p:nvPr/>
        </p:nvSpPr>
        <p:spPr>
          <a:xfrm>
            <a:off x="8295437" y="4114800"/>
            <a:ext cx="3027578" cy="960120"/>
          </a:xfrm>
          <a:prstGeom prst="rect">
            <a:avLst/>
          </a:prstGeom>
          <a:noFill/>
          <a:ln/>
        </p:spPr>
        <p:txBody>
          <a:bodyPr wrap="square" lIns="0" tIns="0" rIns="0" bIns="0" rtlCol="0" anchor="t"/>
          <a:lstStyle/>
          <a:p>
            <a:pPr algn="l" indent="0" marL="0">
              <a:lnSpc>
                <a:spcPct val="120000"/>
              </a:lnSpc>
              <a:buNone/>
            </a:pPr>
            <a:r>
              <a:rPr lang="en-US" sz="1200" dirty="0">
                <a:solidFill>
                  <a:srgbClr val="6B747D"/>
                </a:solidFill>
                <a:latin typeface="Calibri" pitchFamily="34" charset="0"/>
                <a:ea typeface="Calibri" pitchFamily="34" charset="-122"/>
                <a:cs typeface="Calibri" pitchFamily="34" charset="-120"/>
              </a:rPr>
              <a:t>Narrow aisle, five levels, poor light and heavy congestion. The hard site.</a:t>
            </a:r>
            <a:endParaRPr lang="en-US" sz="1200" dirty="0"/>
          </a:p>
        </p:txBody>
      </p:sp>
      <p:sp>
        <p:nvSpPr>
          <p:cNvPr id="21" name="Text 16"/>
          <p:cNvSpPr txBox="1"/>
          <p:nvPr/>
        </p:nvSpPr>
        <p:spPr>
          <a:xfrm>
            <a:off x="8295437" y="5166360"/>
            <a:ext cx="3027578" cy="320040"/>
          </a:xfrm>
          <a:prstGeom prst="rect">
            <a:avLst/>
          </a:prstGeom>
          <a:noFill/>
          <a:ln/>
        </p:spPr>
        <p:txBody>
          <a:bodyPr wrap="square" lIns="0" tIns="0" rIns="0" bIns="0" rtlCol="0" anchor="ctr"/>
          <a:lstStyle/>
          <a:p>
            <a:pPr indent="0" marL="0">
              <a:buNone/>
            </a:pPr>
            <a:r>
              <a:rPr lang="en-US" sz="1100" b="1" dirty="0">
                <a:solidFill>
                  <a:srgbClr val="E07B12"/>
                </a:solidFill>
                <a:latin typeface="Calibri" pitchFamily="34" charset="0"/>
                <a:ea typeface="Calibri" pitchFamily="34" charset="-122"/>
                <a:cs typeface="Calibri" pitchFamily="34" charset="-120"/>
              </a:rPr>
              <a:t>15 hazards   ·   54 × 40 m</a:t>
            </a:r>
            <a:endParaRPr lang="en-US" sz="1100" dirty="0"/>
          </a:p>
        </p:txBody>
      </p:sp>
      <p:sp>
        <p:nvSpPr>
          <p:cNvPr id="22" name="Text 17"/>
          <p:cNvSpPr txBox="1"/>
          <p:nvPr/>
        </p:nvSpPr>
        <p:spPr>
          <a:xfrm>
            <a:off x="640080" y="5897880"/>
            <a:ext cx="10911535" cy="457200"/>
          </a:xfrm>
          <a:prstGeom prst="rect">
            <a:avLst/>
          </a:prstGeom>
          <a:noFill/>
          <a:ln/>
        </p:spPr>
        <p:txBody>
          <a:bodyPr wrap="square" lIns="0" tIns="0" rIns="0" bIns="0" rtlCol="0" anchor="t"/>
          <a:lstStyle/>
          <a:p>
            <a:pPr algn="l" indent="0" marL="0">
              <a:lnSpc>
                <a:spcPct val="120000"/>
              </a:lnSpc>
              <a:buNone/>
            </a:pPr>
            <a:r>
              <a:rPr lang="en-US" sz="1300" dirty="0">
                <a:solidFill>
                  <a:srgbClr val="3C444C"/>
                </a:solidFill>
                <a:latin typeface="Calibri" pitchFamily="34" charset="0"/>
                <a:ea typeface="Calibri" pitchFamily="34" charset="-122"/>
                <a:cs typeface="Calibri" pitchFamily="34" charset="-120"/>
              </a:rPr>
              <a:t>All three share one prop and scenario library — environments 2 and 3 are about 250 lines each, not copies of the application. A fourth site is one file plus one 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WHERE THE PROJECT STANDS</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Built, tested and running</a:t>
            </a:r>
            <a:endParaRPr lang="en-US" sz="3200" dirty="0"/>
          </a:p>
        </p:txBody>
      </p:sp>
      <p:sp>
        <p:nvSpPr>
          <p:cNvPr id="4" name="Text 2"/>
          <p:cNvSpPr txBox="1"/>
          <p:nvPr/>
        </p:nvSpPr>
        <p:spPr>
          <a:xfrm>
            <a:off x="640080" y="1600200"/>
            <a:ext cx="2377440" cy="685800"/>
          </a:xfrm>
          <a:prstGeom prst="rect">
            <a:avLst/>
          </a:prstGeom>
          <a:noFill/>
          <a:ln/>
        </p:spPr>
        <p:txBody>
          <a:bodyPr wrap="square" lIns="0" tIns="0" rIns="0" bIns="0" rtlCol="0" anchor="b"/>
          <a:lstStyle/>
          <a:p>
            <a:pPr algn="l" indent="0" marL="0">
              <a:buNone/>
            </a:pPr>
            <a:r>
              <a:rPr lang="en-US" sz="4000" b="1" dirty="0">
                <a:solidFill>
                  <a:srgbClr val="F2B90C"/>
                </a:solidFill>
                <a:latin typeface="Arial" pitchFamily="34" charset="0"/>
                <a:ea typeface="Arial" pitchFamily="34" charset="-122"/>
                <a:cs typeface="Arial" pitchFamily="34" charset="-120"/>
              </a:rPr>
              <a:t>15</a:t>
            </a:r>
            <a:endParaRPr lang="en-US" sz="4000" dirty="0"/>
          </a:p>
        </p:txBody>
      </p:sp>
      <p:sp>
        <p:nvSpPr>
          <p:cNvPr id="5" name="Text 3"/>
          <p:cNvSpPr txBox="1"/>
          <p:nvPr/>
        </p:nvSpPr>
        <p:spPr>
          <a:xfrm>
            <a:off x="640080" y="2286000"/>
            <a:ext cx="2377440" cy="292608"/>
          </a:xfrm>
          <a:prstGeom prst="rect">
            <a:avLst/>
          </a:prstGeom>
          <a:noFill/>
          <a:ln/>
        </p:spPr>
        <p:txBody>
          <a:bodyPr wrap="square" lIns="0" tIns="0" rIns="0" bIns="0" rtlCol="0" anchor="t"/>
          <a:lstStyle/>
          <a:p>
            <a:pPr algn="l" indent="0" marL="0">
              <a:buNone/>
            </a:pPr>
            <a:r>
              <a:rPr lang="en-US" sz="1200" b="1" dirty="0">
                <a:solidFill>
                  <a:srgbClr val="6B747D"/>
                </a:solidFill>
                <a:latin typeface="Calibri" pitchFamily="34" charset="0"/>
                <a:ea typeface="Calibri" pitchFamily="34" charset="-122"/>
                <a:cs typeface="Calibri" pitchFamily="34" charset="-120"/>
              </a:rPr>
              <a:t>HAZARDS MODELLED</a:t>
            </a:r>
            <a:endParaRPr lang="en-US" sz="1200" dirty="0"/>
          </a:p>
        </p:txBody>
      </p:sp>
      <p:sp>
        <p:nvSpPr>
          <p:cNvPr id="6" name="Text 4"/>
          <p:cNvSpPr txBox="1"/>
          <p:nvPr/>
        </p:nvSpPr>
        <p:spPr>
          <a:xfrm>
            <a:off x="640080" y="2560320"/>
            <a:ext cx="2377440" cy="274320"/>
          </a:xfrm>
          <a:prstGeom prst="rect">
            <a:avLst/>
          </a:prstGeom>
          <a:noFill/>
          <a:ln/>
        </p:spPr>
        <p:txBody>
          <a:bodyPr wrap="square" lIns="0" tIns="0" rIns="0" bIns="0" rtlCol="0" anchor="t"/>
          <a:lstStyle/>
          <a:p>
            <a:pPr algn="l" indent="0" marL="0">
              <a:buNone/>
            </a:pPr>
            <a:r>
              <a:rPr lang="en-US" sz="1000" i="1" dirty="0">
                <a:solidFill>
                  <a:srgbClr val="6B747D"/>
                </a:solidFill>
                <a:latin typeface="Calibri" pitchFamily="34" charset="0"/>
                <a:ea typeface="Calibri" pitchFamily="34" charset="-122"/>
                <a:cs typeface="Calibri" pitchFamily="34" charset="-120"/>
              </a:rPr>
              <a:t>All physically built</a:t>
            </a:r>
            <a:endParaRPr lang="en-US" sz="1000" dirty="0"/>
          </a:p>
        </p:txBody>
      </p:sp>
      <p:sp>
        <p:nvSpPr>
          <p:cNvPr id="7" name="Text 5"/>
          <p:cNvSpPr txBox="1"/>
          <p:nvPr/>
        </p:nvSpPr>
        <p:spPr>
          <a:xfrm>
            <a:off x="3291840" y="1600200"/>
            <a:ext cx="2377440" cy="685800"/>
          </a:xfrm>
          <a:prstGeom prst="rect">
            <a:avLst/>
          </a:prstGeom>
          <a:noFill/>
          <a:ln/>
        </p:spPr>
        <p:txBody>
          <a:bodyPr wrap="square" lIns="0" tIns="0" rIns="0" bIns="0" rtlCol="0" anchor="b"/>
          <a:lstStyle/>
          <a:p>
            <a:pPr algn="l" indent="0" marL="0">
              <a:buNone/>
            </a:pPr>
            <a:r>
              <a:rPr lang="en-US" sz="4000" b="1" dirty="0">
                <a:solidFill>
                  <a:srgbClr val="F2B90C"/>
                </a:solidFill>
                <a:latin typeface="Arial" pitchFamily="34" charset="0"/>
                <a:ea typeface="Arial" pitchFamily="34" charset="-122"/>
                <a:cs typeface="Arial" pitchFamily="34" charset="-120"/>
              </a:rPr>
              <a:t>3</a:t>
            </a:r>
            <a:endParaRPr lang="en-US" sz="4000" dirty="0"/>
          </a:p>
        </p:txBody>
      </p:sp>
      <p:sp>
        <p:nvSpPr>
          <p:cNvPr id="8" name="Text 6"/>
          <p:cNvSpPr txBox="1"/>
          <p:nvPr/>
        </p:nvSpPr>
        <p:spPr>
          <a:xfrm>
            <a:off x="3291840" y="2286000"/>
            <a:ext cx="2377440" cy="292608"/>
          </a:xfrm>
          <a:prstGeom prst="rect">
            <a:avLst/>
          </a:prstGeom>
          <a:noFill/>
          <a:ln/>
        </p:spPr>
        <p:txBody>
          <a:bodyPr wrap="square" lIns="0" tIns="0" rIns="0" bIns="0" rtlCol="0" anchor="t"/>
          <a:lstStyle/>
          <a:p>
            <a:pPr algn="l" indent="0" marL="0">
              <a:buNone/>
            </a:pPr>
            <a:r>
              <a:rPr lang="en-US" sz="1200" b="1" dirty="0">
                <a:solidFill>
                  <a:srgbClr val="6B747D"/>
                </a:solidFill>
                <a:latin typeface="Calibri" pitchFamily="34" charset="0"/>
                <a:ea typeface="Calibri" pitchFamily="34" charset="-122"/>
                <a:cs typeface="Calibri" pitchFamily="34" charset="-120"/>
              </a:rPr>
              <a:t>ENVIRONMENTS</a:t>
            </a:r>
            <a:endParaRPr lang="en-US" sz="1200" dirty="0"/>
          </a:p>
        </p:txBody>
      </p:sp>
      <p:sp>
        <p:nvSpPr>
          <p:cNvPr id="9" name="Text 7"/>
          <p:cNvSpPr txBox="1"/>
          <p:nvPr/>
        </p:nvSpPr>
        <p:spPr>
          <a:xfrm>
            <a:off x="3291840" y="2560320"/>
            <a:ext cx="2377440" cy="274320"/>
          </a:xfrm>
          <a:prstGeom prst="rect">
            <a:avLst/>
          </a:prstGeom>
          <a:noFill/>
          <a:ln/>
        </p:spPr>
        <p:txBody>
          <a:bodyPr wrap="square" lIns="0" tIns="0" rIns="0" bIns="0" rtlCol="0" anchor="t"/>
          <a:lstStyle/>
          <a:p>
            <a:pPr algn="l" indent="0" marL="0">
              <a:buNone/>
            </a:pPr>
            <a:r>
              <a:rPr lang="en-US" sz="1000" i="1" dirty="0">
                <a:solidFill>
                  <a:srgbClr val="6B747D"/>
                </a:solidFill>
                <a:latin typeface="Calibri" pitchFamily="34" charset="0"/>
                <a:ea typeface="Calibri" pitchFamily="34" charset="-122"/>
                <a:cs typeface="Calibri" pitchFamily="34" charset="-120"/>
              </a:rPr>
              <a:t>Shared prop library</a:t>
            </a:r>
            <a:endParaRPr lang="en-US" sz="1000" dirty="0"/>
          </a:p>
        </p:txBody>
      </p:sp>
      <p:sp>
        <p:nvSpPr>
          <p:cNvPr id="10" name="Text 8"/>
          <p:cNvSpPr txBox="1"/>
          <p:nvPr/>
        </p:nvSpPr>
        <p:spPr>
          <a:xfrm>
            <a:off x="5943600" y="1600200"/>
            <a:ext cx="2377440" cy="685800"/>
          </a:xfrm>
          <a:prstGeom prst="rect">
            <a:avLst/>
          </a:prstGeom>
          <a:noFill/>
          <a:ln/>
        </p:spPr>
        <p:txBody>
          <a:bodyPr wrap="square" lIns="0" tIns="0" rIns="0" bIns="0" rtlCol="0" anchor="b"/>
          <a:lstStyle/>
          <a:p>
            <a:pPr algn="l" indent="0" marL="0">
              <a:buNone/>
            </a:pPr>
            <a:r>
              <a:rPr lang="en-US" sz="4000" b="1" dirty="0">
                <a:solidFill>
                  <a:srgbClr val="1F8A4C"/>
                </a:solidFill>
                <a:latin typeface="Arial" pitchFamily="34" charset="0"/>
                <a:ea typeface="Arial" pitchFamily="34" charset="-122"/>
                <a:cs typeface="Arial" pitchFamily="34" charset="-120"/>
              </a:rPr>
              <a:t>94</a:t>
            </a:r>
            <a:endParaRPr lang="en-US" sz="4000" dirty="0"/>
          </a:p>
        </p:txBody>
      </p:sp>
      <p:sp>
        <p:nvSpPr>
          <p:cNvPr id="11" name="Text 9"/>
          <p:cNvSpPr txBox="1"/>
          <p:nvPr/>
        </p:nvSpPr>
        <p:spPr>
          <a:xfrm>
            <a:off x="5943600" y="2286000"/>
            <a:ext cx="2377440" cy="292608"/>
          </a:xfrm>
          <a:prstGeom prst="rect">
            <a:avLst/>
          </a:prstGeom>
          <a:noFill/>
          <a:ln/>
        </p:spPr>
        <p:txBody>
          <a:bodyPr wrap="square" lIns="0" tIns="0" rIns="0" bIns="0" rtlCol="0" anchor="t"/>
          <a:lstStyle/>
          <a:p>
            <a:pPr algn="l" indent="0" marL="0">
              <a:buNone/>
            </a:pPr>
            <a:r>
              <a:rPr lang="en-US" sz="1200" b="1" dirty="0">
                <a:solidFill>
                  <a:srgbClr val="6B747D"/>
                </a:solidFill>
                <a:latin typeface="Calibri" pitchFamily="34" charset="0"/>
                <a:ea typeface="Calibri" pitchFamily="34" charset="-122"/>
                <a:cs typeface="Calibri" pitchFamily="34" charset="-120"/>
              </a:rPr>
              <a:t>AUTOMATED TESTS</a:t>
            </a:r>
            <a:endParaRPr lang="en-US" sz="1200" dirty="0"/>
          </a:p>
        </p:txBody>
      </p:sp>
      <p:sp>
        <p:nvSpPr>
          <p:cNvPr id="12" name="Text 10"/>
          <p:cNvSpPr txBox="1"/>
          <p:nvPr/>
        </p:nvSpPr>
        <p:spPr>
          <a:xfrm>
            <a:off x="5943600" y="2560320"/>
            <a:ext cx="2377440" cy="274320"/>
          </a:xfrm>
          <a:prstGeom prst="rect">
            <a:avLst/>
          </a:prstGeom>
          <a:noFill/>
          <a:ln/>
        </p:spPr>
        <p:txBody>
          <a:bodyPr wrap="square" lIns="0" tIns="0" rIns="0" bIns="0" rtlCol="0" anchor="t"/>
          <a:lstStyle/>
          <a:p>
            <a:pPr algn="l" indent="0" marL="0">
              <a:buNone/>
            </a:pPr>
            <a:r>
              <a:rPr lang="en-US" sz="1000" i="1" dirty="0">
                <a:solidFill>
                  <a:srgbClr val="6B747D"/>
                </a:solidFill>
                <a:latin typeface="Calibri" pitchFamily="34" charset="0"/>
                <a:ea typeface="Calibri" pitchFamily="34" charset="-122"/>
                <a:cs typeface="Calibri" pitchFamily="34" charset="-120"/>
              </a:rPr>
              <a:t>All passing</a:t>
            </a:r>
            <a:endParaRPr lang="en-US" sz="1000" dirty="0"/>
          </a:p>
        </p:txBody>
      </p:sp>
      <p:sp>
        <p:nvSpPr>
          <p:cNvPr id="13" name="Text 11"/>
          <p:cNvSpPr txBox="1"/>
          <p:nvPr/>
        </p:nvSpPr>
        <p:spPr>
          <a:xfrm>
            <a:off x="8595360" y="1600200"/>
            <a:ext cx="2651760" cy="685800"/>
          </a:xfrm>
          <a:prstGeom prst="rect">
            <a:avLst/>
          </a:prstGeom>
          <a:noFill/>
          <a:ln/>
        </p:spPr>
        <p:txBody>
          <a:bodyPr wrap="square" lIns="0" tIns="0" rIns="0" bIns="0" rtlCol="0" anchor="b"/>
          <a:lstStyle/>
          <a:p>
            <a:pPr algn="l" indent="0" marL="0">
              <a:buNone/>
            </a:pPr>
            <a:r>
              <a:rPr lang="en-US" sz="4000" b="1" dirty="0">
                <a:solidFill>
                  <a:srgbClr val="1F8A4C"/>
                </a:solidFill>
                <a:latin typeface="Arial" pitchFamily="34" charset="0"/>
                <a:ea typeface="Arial" pitchFamily="34" charset="-122"/>
                <a:cs typeface="Arial" pitchFamily="34" charset="-120"/>
              </a:rPr>
              <a:t>60</a:t>
            </a:r>
            <a:endParaRPr lang="en-US" sz="4000" dirty="0"/>
          </a:p>
        </p:txBody>
      </p:sp>
      <p:sp>
        <p:nvSpPr>
          <p:cNvPr id="14" name="Text 12"/>
          <p:cNvSpPr txBox="1"/>
          <p:nvPr/>
        </p:nvSpPr>
        <p:spPr>
          <a:xfrm>
            <a:off x="8595360" y="2286000"/>
            <a:ext cx="2651760" cy="292608"/>
          </a:xfrm>
          <a:prstGeom prst="rect">
            <a:avLst/>
          </a:prstGeom>
          <a:noFill/>
          <a:ln/>
        </p:spPr>
        <p:txBody>
          <a:bodyPr wrap="square" lIns="0" tIns="0" rIns="0" bIns="0" rtlCol="0" anchor="t"/>
          <a:lstStyle/>
          <a:p>
            <a:pPr algn="l" indent="0" marL="0">
              <a:buNone/>
            </a:pPr>
            <a:r>
              <a:rPr lang="en-US" sz="1200" b="1" dirty="0">
                <a:solidFill>
                  <a:srgbClr val="6B747D"/>
                </a:solidFill>
                <a:latin typeface="Calibri" pitchFamily="34" charset="0"/>
                <a:ea typeface="Calibri" pitchFamily="34" charset="-122"/>
                <a:cs typeface="Calibri" pitchFamily="34" charset="-120"/>
              </a:rPr>
              <a:t>FRAMES PER SECOND</a:t>
            </a:r>
            <a:endParaRPr lang="en-US" sz="1200" dirty="0"/>
          </a:p>
        </p:txBody>
      </p:sp>
      <p:sp>
        <p:nvSpPr>
          <p:cNvPr id="15" name="Text 13"/>
          <p:cNvSpPr txBox="1"/>
          <p:nvPr/>
        </p:nvSpPr>
        <p:spPr>
          <a:xfrm>
            <a:off x="8595360" y="2560320"/>
            <a:ext cx="2651760" cy="274320"/>
          </a:xfrm>
          <a:prstGeom prst="rect">
            <a:avLst/>
          </a:prstGeom>
          <a:noFill/>
          <a:ln/>
        </p:spPr>
        <p:txBody>
          <a:bodyPr wrap="square" lIns="0" tIns="0" rIns="0" bIns="0" rtlCol="0" anchor="t"/>
          <a:lstStyle/>
          <a:p>
            <a:pPr algn="l" indent="0" marL="0">
              <a:buNone/>
            </a:pPr>
            <a:r>
              <a:rPr lang="en-US" sz="1000" i="1" dirty="0">
                <a:solidFill>
                  <a:srgbClr val="6B747D"/>
                </a:solidFill>
                <a:latin typeface="Calibri" pitchFamily="34" charset="0"/>
                <a:ea typeface="Calibri" pitchFamily="34" charset="-122"/>
                <a:cs typeface="Calibri" pitchFamily="34" charset="-120"/>
              </a:rPr>
              <a:t>Measured in-browser</a:t>
            </a:r>
            <a:endParaRPr lang="en-US" sz="1000" dirty="0"/>
          </a:p>
        </p:txBody>
      </p:sp>
      <p:sp>
        <p:nvSpPr>
          <p:cNvPr id="16" name="Shape 14"/>
          <p:cNvSpPr/>
          <p:nvPr/>
        </p:nvSpPr>
        <p:spPr>
          <a:xfrm>
            <a:off x="640080" y="3200400"/>
            <a:ext cx="5303520" cy="2651760"/>
          </a:xfrm>
          <a:prstGeom prst="roundRect">
            <a:avLst>
              <a:gd name="adj" fmla="val 2759"/>
            </a:avLst>
          </a:prstGeom>
          <a:solidFill>
            <a:srgbClr val="F1F3F5"/>
          </a:solidFill>
          <a:ln/>
          <a:effectLst>
            <a:outerShdw sx="100000" sy="100000" kx="0" ky="0" algn="bl" rotWithShape="0" blurRad="101600" dist="508" dir="5400000">
              <a:srgbClr val="000000">
                <a:alpha val="10000"/>
              </a:srgbClr>
            </a:outerShdw>
          </a:effectLst>
        </p:spPr>
      </p:sp>
      <p:sp>
        <p:nvSpPr>
          <p:cNvPr id="17" name="Text 15"/>
          <p:cNvSpPr txBox="1"/>
          <p:nvPr/>
        </p:nvSpPr>
        <p:spPr>
          <a:xfrm>
            <a:off x="960120" y="3429000"/>
            <a:ext cx="4663440" cy="365760"/>
          </a:xfrm>
          <a:prstGeom prst="rect">
            <a:avLst/>
          </a:prstGeom>
          <a:noFill/>
          <a:ln/>
        </p:spPr>
        <p:txBody>
          <a:bodyPr wrap="square" lIns="0" tIns="0" rIns="0" bIns="0" rtlCol="0" anchor="ctr"/>
          <a:lstStyle/>
          <a:p>
            <a:pPr indent="0" marL="0">
              <a:buNone/>
            </a:pPr>
            <a:r>
              <a:rPr lang="en-US" sz="1500" b="1" dirty="0">
                <a:solidFill>
                  <a:srgbClr val="14181C"/>
                </a:solidFill>
                <a:latin typeface="Arial" pitchFamily="34" charset="0"/>
                <a:ea typeface="Arial" pitchFamily="34" charset="-122"/>
                <a:cs typeface="Arial" pitchFamily="34" charset="-120"/>
              </a:rPr>
              <a:t>Verified by playing it, not by assuming</a:t>
            </a:r>
            <a:endParaRPr lang="en-US" sz="1500" dirty="0"/>
          </a:p>
        </p:txBody>
      </p:sp>
      <p:sp>
        <p:nvSpPr>
          <p:cNvPr id="18" name="Text 16"/>
          <p:cNvSpPr txBox="1"/>
          <p:nvPr/>
        </p:nvSpPr>
        <p:spPr>
          <a:xfrm>
            <a:off x="960120" y="3840480"/>
            <a:ext cx="4663440" cy="777240"/>
          </a:xfrm>
          <a:prstGeom prst="rect">
            <a:avLst/>
          </a:prstGeom>
          <a:noFill/>
          <a:ln/>
        </p:spPr>
        <p:txBody>
          <a:bodyPr wrap="square" lIns="0" tIns="0" rIns="0" bIns="0" rtlCol="0" anchor="t"/>
          <a:lstStyle/>
          <a:p>
            <a:pPr algn="l" indent="0" marL="0">
              <a:lnSpc>
                <a:spcPct val="120000"/>
              </a:lnSpc>
              <a:buNone/>
            </a:pPr>
            <a:r>
              <a:rPr lang="en-US" sz="1250" dirty="0">
                <a:solidFill>
                  <a:srgbClr val="6B747D"/>
                </a:solidFill>
                <a:latin typeface="Calibri" pitchFamily="34" charset="0"/>
                <a:ea typeface="Calibri" pitchFamily="34" charset="-122"/>
                <a:cs typeface="Calibri" pitchFamily="34" charset="-120"/>
              </a:rPr>
              <a:t>A test harness walks the player around every hazard from 24 vantage points and confirms each one can actually be found and flagged.</a:t>
            </a:r>
            <a:endParaRPr lang="en-US" sz="1250" dirty="0"/>
          </a:p>
        </p:txBody>
      </p:sp>
      <p:sp>
        <p:nvSpPr>
          <p:cNvPr id="19" name="Text 17"/>
          <p:cNvSpPr txBox="1"/>
          <p:nvPr/>
        </p:nvSpPr>
        <p:spPr>
          <a:xfrm>
            <a:off x="960120" y="4663440"/>
            <a:ext cx="3383280" cy="347472"/>
          </a:xfrm>
          <a:prstGeom prst="rect">
            <a:avLst/>
          </a:prstGeom>
          <a:noFill/>
          <a:ln/>
        </p:spPr>
        <p:txBody>
          <a:bodyPr wrap="square" lIns="0" tIns="0" rIns="0" bIns="0" rtlCol="0" anchor="ctr"/>
          <a:lstStyle/>
          <a:p>
            <a:pPr indent="0" marL="0">
              <a:buNone/>
            </a:pPr>
            <a:r>
              <a:rPr lang="en-US" sz="1250" dirty="0">
                <a:solidFill>
                  <a:srgbClr val="3C444C"/>
                </a:solidFill>
                <a:latin typeface="Calibri" pitchFamily="34" charset="0"/>
                <a:ea typeface="Calibri" pitchFamily="34" charset="-122"/>
                <a:cs typeface="Calibri" pitchFamily="34" charset="-120"/>
              </a:rPr>
              <a:t>Main Storage Hall — Mid</a:t>
            </a:r>
            <a:endParaRPr lang="en-US" sz="1250" dirty="0"/>
          </a:p>
        </p:txBody>
      </p:sp>
      <p:sp>
        <p:nvSpPr>
          <p:cNvPr id="20" name="Text 18"/>
          <p:cNvSpPr txBox="1"/>
          <p:nvPr/>
        </p:nvSpPr>
        <p:spPr>
          <a:xfrm>
            <a:off x="4343400" y="4663440"/>
            <a:ext cx="1280160" cy="347472"/>
          </a:xfrm>
          <a:prstGeom prst="rect">
            <a:avLst/>
          </a:prstGeom>
          <a:noFill/>
          <a:ln/>
        </p:spPr>
        <p:txBody>
          <a:bodyPr wrap="square" lIns="0" tIns="0" rIns="0" bIns="0" rtlCol="0" anchor="ctr"/>
          <a:lstStyle/>
          <a:p>
            <a:pPr algn="r" indent="0" marL="0">
              <a:buNone/>
            </a:pPr>
            <a:r>
              <a:rPr lang="en-US" sz="1250" b="1" dirty="0">
                <a:solidFill>
                  <a:srgbClr val="1F8A4C"/>
                </a:solidFill>
                <a:latin typeface="Arial" pitchFamily="34" charset="0"/>
                <a:ea typeface="Arial" pitchFamily="34" charset="-122"/>
                <a:cs typeface="Arial" pitchFamily="34" charset="-120"/>
              </a:rPr>
              <a:t>15 / 15</a:t>
            </a:r>
            <a:endParaRPr lang="en-US" sz="1250" dirty="0"/>
          </a:p>
        </p:txBody>
      </p:sp>
      <p:sp>
        <p:nvSpPr>
          <p:cNvPr id="21" name="Text 19"/>
          <p:cNvSpPr txBox="1"/>
          <p:nvPr/>
        </p:nvSpPr>
        <p:spPr>
          <a:xfrm>
            <a:off x="960120" y="5047488"/>
            <a:ext cx="3383280" cy="347472"/>
          </a:xfrm>
          <a:prstGeom prst="rect">
            <a:avLst/>
          </a:prstGeom>
          <a:noFill/>
          <a:ln/>
        </p:spPr>
        <p:txBody>
          <a:bodyPr wrap="square" lIns="0" tIns="0" rIns="0" bIns="0" rtlCol="0" anchor="ctr"/>
          <a:lstStyle/>
          <a:p>
            <a:pPr indent="0" marL="0">
              <a:buNone/>
            </a:pPr>
            <a:r>
              <a:rPr lang="en-US" sz="1250" dirty="0">
                <a:solidFill>
                  <a:srgbClr val="3C444C"/>
                </a:solidFill>
                <a:latin typeface="Calibri" pitchFamily="34" charset="0"/>
                <a:ea typeface="Calibri" pitchFamily="34" charset="-122"/>
                <a:cs typeface="Calibri" pitchFamily="34" charset="-120"/>
              </a:rPr>
              <a:t>Loading &amp; Dispatch — Mid</a:t>
            </a:r>
            <a:endParaRPr lang="en-US" sz="1250" dirty="0"/>
          </a:p>
        </p:txBody>
      </p:sp>
      <p:sp>
        <p:nvSpPr>
          <p:cNvPr id="22" name="Text 20"/>
          <p:cNvSpPr txBox="1"/>
          <p:nvPr/>
        </p:nvSpPr>
        <p:spPr>
          <a:xfrm>
            <a:off x="4343400" y="5047488"/>
            <a:ext cx="1280160" cy="347472"/>
          </a:xfrm>
          <a:prstGeom prst="rect">
            <a:avLst/>
          </a:prstGeom>
          <a:noFill/>
          <a:ln/>
        </p:spPr>
        <p:txBody>
          <a:bodyPr wrap="square" lIns="0" tIns="0" rIns="0" bIns="0" rtlCol="0" anchor="ctr"/>
          <a:lstStyle/>
          <a:p>
            <a:pPr algn="r" indent="0" marL="0">
              <a:buNone/>
            </a:pPr>
            <a:r>
              <a:rPr lang="en-US" sz="1250" b="1" dirty="0">
                <a:solidFill>
                  <a:srgbClr val="1F8A4C"/>
                </a:solidFill>
                <a:latin typeface="Arial" pitchFamily="34" charset="0"/>
                <a:ea typeface="Arial" pitchFamily="34" charset="-122"/>
                <a:cs typeface="Arial" pitchFamily="34" charset="-120"/>
              </a:rPr>
              <a:t>12 / 12</a:t>
            </a:r>
            <a:endParaRPr lang="en-US" sz="1250" dirty="0"/>
          </a:p>
        </p:txBody>
      </p:sp>
      <p:sp>
        <p:nvSpPr>
          <p:cNvPr id="23" name="Text 21"/>
          <p:cNvSpPr txBox="1"/>
          <p:nvPr/>
        </p:nvSpPr>
        <p:spPr>
          <a:xfrm>
            <a:off x="960120" y="5431536"/>
            <a:ext cx="3383280" cy="347472"/>
          </a:xfrm>
          <a:prstGeom prst="rect">
            <a:avLst/>
          </a:prstGeom>
          <a:noFill/>
          <a:ln/>
        </p:spPr>
        <p:txBody>
          <a:bodyPr wrap="square" lIns="0" tIns="0" rIns="0" bIns="0" rtlCol="0" anchor="ctr"/>
          <a:lstStyle/>
          <a:p>
            <a:pPr indent="0" marL="0">
              <a:buNone/>
            </a:pPr>
            <a:r>
              <a:rPr lang="en-US" sz="1250" dirty="0">
                <a:solidFill>
                  <a:srgbClr val="3C444C"/>
                </a:solidFill>
                <a:latin typeface="Calibri" pitchFamily="34" charset="0"/>
                <a:ea typeface="Calibri" pitchFamily="34" charset="-122"/>
                <a:cs typeface="Calibri" pitchFamily="34" charset="-120"/>
              </a:rPr>
              <a:t>High-Bay Annexe — Hard</a:t>
            </a:r>
            <a:endParaRPr lang="en-US" sz="1250" dirty="0"/>
          </a:p>
        </p:txBody>
      </p:sp>
      <p:sp>
        <p:nvSpPr>
          <p:cNvPr id="24" name="Text 22"/>
          <p:cNvSpPr txBox="1"/>
          <p:nvPr/>
        </p:nvSpPr>
        <p:spPr>
          <a:xfrm>
            <a:off x="4343400" y="5431536"/>
            <a:ext cx="1280160" cy="347472"/>
          </a:xfrm>
          <a:prstGeom prst="rect">
            <a:avLst/>
          </a:prstGeom>
          <a:noFill/>
          <a:ln/>
        </p:spPr>
        <p:txBody>
          <a:bodyPr wrap="square" lIns="0" tIns="0" rIns="0" bIns="0" rtlCol="0" anchor="ctr"/>
          <a:lstStyle/>
          <a:p>
            <a:pPr algn="r" indent="0" marL="0">
              <a:buNone/>
            </a:pPr>
            <a:r>
              <a:rPr lang="en-US" sz="1250" b="1" dirty="0">
                <a:solidFill>
                  <a:srgbClr val="1F8A4C"/>
                </a:solidFill>
                <a:latin typeface="Arial" pitchFamily="34" charset="0"/>
                <a:ea typeface="Arial" pitchFamily="34" charset="-122"/>
                <a:cs typeface="Arial" pitchFamily="34" charset="-120"/>
              </a:rPr>
              <a:t>15 / 15</a:t>
            </a:r>
            <a:endParaRPr lang="en-US" sz="1250" dirty="0"/>
          </a:p>
        </p:txBody>
      </p:sp>
      <p:sp>
        <p:nvSpPr>
          <p:cNvPr id="25" name="Shape 23"/>
          <p:cNvSpPr/>
          <p:nvPr/>
        </p:nvSpPr>
        <p:spPr>
          <a:xfrm>
            <a:off x="6217920" y="3200400"/>
            <a:ext cx="5029200" cy="2651760"/>
          </a:xfrm>
          <a:prstGeom prst="roundRect">
            <a:avLst>
              <a:gd name="adj" fmla="val 2759"/>
            </a:avLst>
          </a:prstGeom>
          <a:solidFill>
            <a:srgbClr val="14181C"/>
          </a:solidFill>
          <a:ln/>
        </p:spPr>
      </p:sp>
      <p:sp>
        <p:nvSpPr>
          <p:cNvPr id="26" name="Text 24"/>
          <p:cNvSpPr txBox="1"/>
          <p:nvPr/>
        </p:nvSpPr>
        <p:spPr>
          <a:xfrm>
            <a:off x="6537960" y="3429000"/>
            <a:ext cx="4389120" cy="365760"/>
          </a:xfrm>
          <a:prstGeom prst="rect">
            <a:avLst/>
          </a:prstGeom>
          <a:noFill/>
          <a:ln/>
        </p:spPr>
        <p:txBody>
          <a:bodyPr wrap="square" lIns="0" tIns="0" rIns="0" bIns="0" rtlCol="0" anchor="ctr"/>
          <a:lstStyle/>
          <a:p>
            <a:pPr indent="0" marL="0">
              <a:buNone/>
            </a:pPr>
            <a:r>
              <a:rPr lang="en-US" sz="1500" b="1" dirty="0">
                <a:solidFill>
                  <a:srgbClr val="F2B90C"/>
                </a:solidFill>
                <a:latin typeface="Arial" pitchFamily="34" charset="0"/>
                <a:ea typeface="Arial" pitchFamily="34" charset="-122"/>
                <a:cs typeface="Arial" pitchFamily="34" charset="-120"/>
              </a:rPr>
              <a:t>Engineering highlight</a:t>
            </a:r>
            <a:endParaRPr lang="en-US" sz="1500" dirty="0"/>
          </a:p>
        </p:txBody>
      </p:sp>
      <p:sp>
        <p:nvSpPr>
          <p:cNvPr id="27" name="Text 25"/>
          <p:cNvSpPr txBox="1"/>
          <p:nvPr/>
        </p:nvSpPr>
        <p:spPr>
          <a:xfrm>
            <a:off x="6537960" y="3840480"/>
            <a:ext cx="4389120" cy="640080"/>
          </a:xfrm>
          <a:prstGeom prst="rect">
            <a:avLst/>
          </a:prstGeom>
          <a:noFill/>
          <a:ln/>
        </p:spPr>
        <p:txBody>
          <a:bodyPr wrap="square" lIns="0" tIns="0" rIns="0" bIns="0" rtlCol="0" anchor="t"/>
          <a:lstStyle/>
          <a:p>
            <a:pPr algn="l" indent="0" marL="0">
              <a:lnSpc>
                <a:spcPct val="120000"/>
              </a:lnSpc>
              <a:buNone/>
            </a:pPr>
            <a:r>
              <a:rPr lang="en-US" sz="1250" dirty="0">
                <a:solidFill>
                  <a:srgbClr val="FFFFFF"/>
                </a:solidFill>
                <a:latin typeface="Calibri" pitchFamily="34" charset="0"/>
                <a:ea typeface="Calibri" pitchFamily="34" charset="-122"/>
                <a:cs typeface="Calibri" pitchFamily="34" charset="-120"/>
              </a:rPr>
              <a:t>A believable warehouse needs thousands of cartons. Drawn naively that is 9,587 draw calls per frame — unusable.</a:t>
            </a:r>
            <a:endParaRPr lang="en-US" sz="1250" dirty="0"/>
          </a:p>
        </p:txBody>
      </p:sp>
      <p:sp>
        <p:nvSpPr>
          <p:cNvPr id="28" name="Text 26"/>
          <p:cNvSpPr txBox="1"/>
          <p:nvPr/>
        </p:nvSpPr>
        <p:spPr>
          <a:xfrm>
            <a:off x="6537960" y="4526280"/>
            <a:ext cx="1737360" cy="548640"/>
          </a:xfrm>
          <a:prstGeom prst="rect">
            <a:avLst/>
          </a:prstGeom>
          <a:noFill/>
          <a:ln/>
        </p:spPr>
        <p:txBody>
          <a:bodyPr wrap="square" lIns="0" tIns="0" rIns="0" bIns="0" rtlCol="0" anchor="ctr"/>
          <a:lstStyle/>
          <a:p>
            <a:pPr algn="l" indent="0" marL="0">
              <a:buNone/>
            </a:pPr>
            <a:r>
              <a:rPr lang="en-US" sz="2600" b="1" dirty="0">
                <a:solidFill>
                  <a:srgbClr val="8A939B"/>
                </a:solidFill>
                <a:latin typeface="Arial" pitchFamily="34" charset="0"/>
                <a:ea typeface="Arial" pitchFamily="34" charset="-122"/>
                <a:cs typeface="Arial" pitchFamily="34" charset="-120"/>
              </a:rPr>
              <a:t>9,587</a:t>
            </a:r>
            <a:endParaRPr lang="en-US" sz="2600" dirty="0"/>
          </a:p>
        </p:txBody>
      </p:sp>
      <p:sp>
        <p:nvSpPr>
          <p:cNvPr id="29" name="Text 27"/>
          <p:cNvSpPr txBox="1"/>
          <p:nvPr/>
        </p:nvSpPr>
        <p:spPr>
          <a:xfrm>
            <a:off x="8229600" y="4526280"/>
            <a:ext cx="548640" cy="548640"/>
          </a:xfrm>
          <a:prstGeom prst="rect">
            <a:avLst/>
          </a:prstGeom>
          <a:noFill/>
          <a:ln/>
        </p:spPr>
        <p:txBody>
          <a:bodyPr wrap="square" lIns="0" tIns="0" rIns="0" bIns="0" rtlCol="0" anchor="ctr"/>
          <a:lstStyle/>
          <a:p>
            <a:pPr algn="ctr" indent="0" marL="0">
              <a:buNone/>
            </a:pPr>
            <a:r>
              <a:rPr lang="en-US" sz="2000" dirty="0">
                <a:solidFill>
                  <a:srgbClr val="A8B2BB"/>
                </a:solidFill>
                <a:latin typeface="Calibri" pitchFamily="34" charset="0"/>
                <a:ea typeface="Calibri" pitchFamily="34" charset="-122"/>
                <a:cs typeface="Calibri" pitchFamily="34" charset="-120"/>
              </a:rPr>
              <a:t>→</a:t>
            </a:r>
            <a:endParaRPr lang="en-US" sz="2000" dirty="0"/>
          </a:p>
        </p:txBody>
      </p:sp>
      <p:sp>
        <p:nvSpPr>
          <p:cNvPr id="30" name="Text 28"/>
          <p:cNvSpPr txBox="1"/>
          <p:nvPr/>
        </p:nvSpPr>
        <p:spPr>
          <a:xfrm>
            <a:off x="8778240" y="4526280"/>
            <a:ext cx="1737360" cy="548640"/>
          </a:xfrm>
          <a:prstGeom prst="rect">
            <a:avLst/>
          </a:prstGeom>
          <a:noFill/>
          <a:ln/>
        </p:spPr>
        <p:txBody>
          <a:bodyPr wrap="square" lIns="0" tIns="0" rIns="0" bIns="0" rtlCol="0" anchor="ctr"/>
          <a:lstStyle/>
          <a:p>
            <a:pPr algn="l" indent="0" marL="0">
              <a:buNone/>
            </a:pPr>
            <a:r>
              <a:rPr lang="en-US" sz="2600" b="1" dirty="0">
                <a:solidFill>
                  <a:srgbClr val="F2B90C"/>
                </a:solidFill>
                <a:latin typeface="Arial" pitchFamily="34" charset="0"/>
                <a:ea typeface="Arial" pitchFamily="34" charset="-122"/>
                <a:cs typeface="Arial" pitchFamily="34" charset="-120"/>
              </a:rPr>
              <a:t>994</a:t>
            </a:r>
            <a:endParaRPr lang="en-US" sz="2600" dirty="0"/>
          </a:p>
        </p:txBody>
      </p:sp>
      <p:sp>
        <p:nvSpPr>
          <p:cNvPr id="31" name="Text 29"/>
          <p:cNvSpPr txBox="1"/>
          <p:nvPr/>
        </p:nvSpPr>
        <p:spPr>
          <a:xfrm>
            <a:off x="6537960" y="5120640"/>
            <a:ext cx="4389120" cy="548640"/>
          </a:xfrm>
          <a:prstGeom prst="rect">
            <a:avLst/>
          </a:prstGeom>
          <a:noFill/>
          <a:ln/>
        </p:spPr>
        <p:txBody>
          <a:bodyPr wrap="square" lIns="0" tIns="0" rIns="0" bIns="0" rtlCol="0" anchor="t"/>
          <a:lstStyle/>
          <a:p>
            <a:pPr algn="l" indent="0" marL="0">
              <a:lnSpc>
                <a:spcPct val="120000"/>
              </a:lnSpc>
              <a:buNone/>
            </a:pPr>
            <a:r>
              <a:rPr lang="en-US" sz="1150" dirty="0">
                <a:solidFill>
                  <a:srgbClr val="A8B2BB"/>
                </a:solidFill>
                <a:latin typeface="Calibri" pitchFamily="34" charset="0"/>
                <a:ea typeface="Calibri" pitchFamily="34" charset="-122"/>
                <a:cs typeface="Calibri" pitchFamily="34" charset="-120"/>
              </a:rPr>
              <a:t>Static geometry is merged into 74 batches at load — same picture, a fraction of the cost.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E07B12"/>
                </a:solidFill>
                <a:latin typeface="Calibri" pitchFamily="34" charset="0"/>
                <a:ea typeface="Calibri" pitchFamily="34" charset="-122"/>
                <a:cs typeface="Calibri" pitchFamily="34" charset="-120"/>
              </a:rPr>
              <a:t>BEING STRAIGHT WITH YOU</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What it does not do yet</a:t>
            </a:r>
            <a:endParaRPr lang="en-US" sz="3200" dirty="0"/>
          </a:p>
        </p:txBody>
      </p:sp>
      <p:sp>
        <p:nvSpPr>
          <p:cNvPr id="4" name="Text 2"/>
          <p:cNvSpPr txBox="1"/>
          <p:nvPr/>
        </p:nvSpPr>
        <p:spPr>
          <a:xfrm>
            <a:off x="640080" y="1463040"/>
            <a:ext cx="7772400" cy="457200"/>
          </a:xfrm>
          <a:prstGeom prst="rect">
            <a:avLst/>
          </a:prstGeom>
          <a:noFill/>
          <a:ln/>
        </p:spPr>
        <p:txBody>
          <a:bodyPr wrap="square" lIns="0" tIns="0" rIns="0" bIns="0" rtlCol="0" anchor="t"/>
          <a:lstStyle/>
          <a:p>
            <a:pPr algn="l" indent="0" marL="0">
              <a:lnSpc>
                <a:spcPct val="120000"/>
              </a:lnSpc>
              <a:buNone/>
            </a:pPr>
            <a:r>
              <a:rPr lang="en-US" sz="1400" dirty="0">
                <a:solidFill>
                  <a:srgbClr val="6B747D"/>
                </a:solidFill>
                <a:latin typeface="Calibri" pitchFamily="34" charset="0"/>
                <a:ea typeface="Calibri" pitchFamily="34" charset="-122"/>
                <a:cs typeface="Calibri" pitchFamily="34" charset="-120"/>
              </a:rPr>
              <a:t>A training tool that overstates itself is worse than one that does not. These are stated plainly in the project documentation.</a:t>
            </a:r>
            <a:endParaRPr lang="en-US" sz="1400" dirty="0"/>
          </a:p>
        </p:txBody>
      </p:sp>
      <p:sp>
        <p:nvSpPr>
          <p:cNvPr id="5" name="Shape 3"/>
          <p:cNvSpPr/>
          <p:nvPr/>
        </p:nvSpPr>
        <p:spPr>
          <a:xfrm>
            <a:off x="640080" y="2148840"/>
            <a:ext cx="5250028" cy="1371600"/>
          </a:xfrm>
          <a:prstGeom prst="roundRect">
            <a:avLst>
              <a:gd name="adj" fmla="val 5333"/>
            </a:avLst>
          </a:prstGeom>
          <a:solidFill>
            <a:srgbClr val="F1F3F5"/>
          </a:solidFill>
          <a:ln/>
          <a:effectLst>
            <a:outerShdw sx="100000" sy="100000" kx="0" ky="0" algn="bl" rotWithShape="0" blurRad="101600" dist="508" dir="5400000">
              <a:srgbClr val="000000">
                <a:alpha val="10000"/>
              </a:srgbClr>
            </a:outerShdw>
          </a:effectLst>
        </p:spPr>
      </p:sp>
      <p:sp>
        <p:nvSpPr>
          <p:cNvPr id="6" name="Shape 4"/>
          <p:cNvSpPr/>
          <p:nvPr/>
        </p:nvSpPr>
        <p:spPr>
          <a:xfrm>
            <a:off x="914400" y="2441448"/>
            <a:ext cx="274320" cy="274320"/>
          </a:xfrm>
          <a:prstGeom prst="ellipse">
            <a:avLst/>
          </a:prstGeom>
          <a:solidFill>
            <a:srgbClr val="E07B12"/>
          </a:solidFill>
          <a:ln/>
        </p:spPr>
      </p:sp>
      <p:sp>
        <p:nvSpPr>
          <p:cNvPr id="7" name="Text 5"/>
          <p:cNvSpPr txBox="1"/>
          <p:nvPr/>
        </p:nvSpPr>
        <p:spPr>
          <a:xfrm>
            <a:off x="1325880" y="2350008"/>
            <a:ext cx="4289908" cy="411480"/>
          </a:xfrm>
          <a:prstGeom prst="rect">
            <a:avLst/>
          </a:prstGeom>
          <a:noFill/>
          <a:ln/>
        </p:spPr>
        <p:txBody>
          <a:bodyPr wrap="square" lIns="0" tIns="0" rIns="0" bIns="0" rtlCol="0" anchor="ctr"/>
          <a:lstStyle/>
          <a:p>
            <a:pPr indent="0" marL="0">
              <a:buNone/>
            </a:pPr>
            <a:r>
              <a:rPr lang="en-US" sz="1400" b="1" dirty="0">
                <a:solidFill>
                  <a:srgbClr val="14181C"/>
                </a:solidFill>
                <a:latin typeface="Arial" pitchFamily="34" charset="0"/>
                <a:ea typeface="Arial" pitchFamily="34" charset="-122"/>
                <a:cs typeface="Arial" pitchFamily="34" charset="-120"/>
              </a:rPr>
              <a:t>Not photorealistic</a:t>
            </a:r>
            <a:endParaRPr lang="en-US" sz="1400" dirty="0"/>
          </a:p>
        </p:txBody>
      </p:sp>
      <p:sp>
        <p:nvSpPr>
          <p:cNvPr id="8" name="Text 6"/>
          <p:cNvSpPr txBox="1"/>
          <p:nvPr/>
        </p:nvSpPr>
        <p:spPr>
          <a:xfrm>
            <a:off x="1325880" y="2788920"/>
            <a:ext cx="4289908" cy="640080"/>
          </a:xfrm>
          <a:prstGeom prst="rect">
            <a:avLst/>
          </a:prstGeom>
          <a:noFill/>
          <a:ln/>
        </p:spPr>
        <p:txBody>
          <a:bodyPr wrap="square" lIns="0" tIns="0" rIns="0" bIns="0" rtlCol="0" anchor="t"/>
          <a:lstStyle/>
          <a:p>
            <a:pPr algn="l" indent="0" marL="0">
              <a:lnSpc>
                <a:spcPct val="120000"/>
              </a:lnSpc>
              <a:buNone/>
            </a:pPr>
            <a:r>
              <a:rPr lang="en-US" sz="1150" dirty="0">
                <a:solidFill>
                  <a:srgbClr val="6B747D"/>
                </a:solidFill>
                <a:latin typeface="Calibri" pitchFamily="34" charset="0"/>
                <a:ea typeface="Calibri" pitchFamily="34" charset="-122"/>
                <a:cs typeface="Calibri" pitchFamily="34" charset="-120"/>
              </a:rPr>
              <a:t>Stylised, procedurally generated geometry. Built for believable scale and hazard readability, not for a rendered CAD walkthrough.</a:t>
            </a:r>
            <a:endParaRPr lang="en-US" sz="1150" dirty="0"/>
          </a:p>
        </p:txBody>
      </p:sp>
      <p:sp>
        <p:nvSpPr>
          <p:cNvPr id="9" name="Shape 7"/>
          <p:cNvSpPr/>
          <p:nvPr/>
        </p:nvSpPr>
        <p:spPr>
          <a:xfrm>
            <a:off x="6301588" y="2148840"/>
            <a:ext cx="5250028" cy="1371600"/>
          </a:xfrm>
          <a:prstGeom prst="roundRect">
            <a:avLst>
              <a:gd name="adj" fmla="val 5333"/>
            </a:avLst>
          </a:prstGeom>
          <a:solidFill>
            <a:srgbClr val="F1F3F5"/>
          </a:solidFill>
          <a:ln/>
          <a:effectLst>
            <a:outerShdw sx="100000" sy="100000" kx="0" ky="0" algn="bl" rotWithShape="0" blurRad="101600" dist="508" dir="5400000">
              <a:srgbClr val="000000">
                <a:alpha val="10000"/>
              </a:srgbClr>
            </a:outerShdw>
          </a:effectLst>
        </p:spPr>
      </p:sp>
      <p:sp>
        <p:nvSpPr>
          <p:cNvPr id="10" name="Shape 8"/>
          <p:cNvSpPr/>
          <p:nvPr/>
        </p:nvSpPr>
        <p:spPr>
          <a:xfrm>
            <a:off x="6575908" y="2441448"/>
            <a:ext cx="274320" cy="274320"/>
          </a:xfrm>
          <a:prstGeom prst="ellipse">
            <a:avLst/>
          </a:prstGeom>
          <a:solidFill>
            <a:srgbClr val="E07B12"/>
          </a:solidFill>
          <a:ln/>
        </p:spPr>
      </p:sp>
      <p:sp>
        <p:nvSpPr>
          <p:cNvPr id="11" name="Text 9"/>
          <p:cNvSpPr txBox="1"/>
          <p:nvPr/>
        </p:nvSpPr>
        <p:spPr>
          <a:xfrm>
            <a:off x="6987388" y="2350008"/>
            <a:ext cx="4289908" cy="411480"/>
          </a:xfrm>
          <a:prstGeom prst="rect">
            <a:avLst/>
          </a:prstGeom>
          <a:noFill/>
          <a:ln/>
        </p:spPr>
        <p:txBody>
          <a:bodyPr wrap="square" lIns="0" tIns="0" rIns="0" bIns="0" rtlCol="0" anchor="ctr"/>
          <a:lstStyle/>
          <a:p>
            <a:pPr indent="0" marL="0">
              <a:buNone/>
            </a:pPr>
            <a:r>
              <a:rPr lang="en-US" sz="1400" b="1" dirty="0">
                <a:solidFill>
                  <a:srgbClr val="14181C"/>
                </a:solidFill>
                <a:latin typeface="Arial" pitchFamily="34" charset="0"/>
                <a:ea typeface="Arial" pitchFamily="34" charset="-122"/>
                <a:cs typeface="Arial" pitchFamily="34" charset="-120"/>
              </a:rPr>
              <a:t>No VR</a:t>
            </a:r>
            <a:endParaRPr lang="en-US" sz="1400" dirty="0"/>
          </a:p>
        </p:txBody>
      </p:sp>
      <p:sp>
        <p:nvSpPr>
          <p:cNvPr id="12" name="Text 10"/>
          <p:cNvSpPr txBox="1"/>
          <p:nvPr/>
        </p:nvSpPr>
        <p:spPr>
          <a:xfrm>
            <a:off x="6987388" y="2788920"/>
            <a:ext cx="4289908" cy="640080"/>
          </a:xfrm>
          <a:prstGeom prst="rect">
            <a:avLst/>
          </a:prstGeom>
          <a:noFill/>
          <a:ln/>
        </p:spPr>
        <p:txBody>
          <a:bodyPr wrap="square" lIns="0" tIns="0" rIns="0" bIns="0" rtlCol="0" anchor="t"/>
          <a:lstStyle/>
          <a:p>
            <a:pPr algn="l" indent="0" marL="0">
              <a:lnSpc>
                <a:spcPct val="120000"/>
              </a:lnSpc>
              <a:buNone/>
            </a:pPr>
            <a:r>
              <a:rPr lang="en-US" sz="1150" dirty="0">
                <a:solidFill>
                  <a:srgbClr val="6B747D"/>
                </a:solidFill>
                <a:latin typeface="Calibri" pitchFamily="34" charset="0"/>
                <a:ea typeface="Calibri" pitchFamily="34" charset="-122"/>
                <a:cs typeface="Calibri" pitchFamily="34" charset="-120"/>
              </a:rPr>
              <a:t>No headset was available to test on, so rather than ship untested VR code we left it out. Desktop play never depended on it.</a:t>
            </a:r>
            <a:endParaRPr lang="en-US" sz="1150" dirty="0"/>
          </a:p>
        </p:txBody>
      </p:sp>
      <p:sp>
        <p:nvSpPr>
          <p:cNvPr id="13" name="Shape 11"/>
          <p:cNvSpPr/>
          <p:nvPr/>
        </p:nvSpPr>
        <p:spPr>
          <a:xfrm>
            <a:off x="640080" y="3749040"/>
            <a:ext cx="5250028" cy="1371600"/>
          </a:xfrm>
          <a:prstGeom prst="roundRect">
            <a:avLst>
              <a:gd name="adj" fmla="val 5333"/>
            </a:avLst>
          </a:prstGeom>
          <a:solidFill>
            <a:srgbClr val="F1F3F5"/>
          </a:solidFill>
          <a:ln/>
          <a:effectLst>
            <a:outerShdw sx="100000" sy="100000" kx="0" ky="0" algn="bl" rotWithShape="0" blurRad="101600" dist="508" dir="5400000">
              <a:srgbClr val="000000">
                <a:alpha val="10000"/>
              </a:srgbClr>
            </a:outerShdw>
          </a:effectLst>
        </p:spPr>
      </p:sp>
      <p:sp>
        <p:nvSpPr>
          <p:cNvPr id="14" name="Shape 12"/>
          <p:cNvSpPr/>
          <p:nvPr/>
        </p:nvSpPr>
        <p:spPr>
          <a:xfrm>
            <a:off x="914400" y="4041648"/>
            <a:ext cx="274320" cy="274320"/>
          </a:xfrm>
          <a:prstGeom prst="ellipse">
            <a:avLst/>
          </a:prstGeom>
          <a:solidFill>
            <a:srgbClr val="E07B12"/>
          </a:solidFill>
          <a:ln/>
        </p:spPr>
      </p:sp>
      <p:sp>
        <p:nvSpPr>
          <p:cNvPr id="15" name="Text 13"/>
          <p:cNvSpPr txBox="1"/>
          <p:nvPr/>
        </p:nvSpPr>
        <p:spPr>
          <a:xfrm>
            <a:off x="1325880" y="3950208"/>
            <a:ext cx="4289908" cy="411480"/>
          </a:xfrm>
          <a:prstGeom prst="rect">
            <a:avLst/>
          </a:prstGeom>
          <a:noFill/>
          <a:ln/>
        </p:spPr>
        <p:txBody>
          <a:bodyPr wrap="square" lIns="0" tIns="0" rIns="0" bIns="0" rtlCol="0" anchor="ctr"/>
          <a:lstStyle/>
          <a:p>
            <a:pPr indent="0" marL="0">
              <a:buNone/>
            </a:pPr>
            <a:r>
              <a:rPr lang="en-US" sz="1400" b="1" dirty="0">
                <a:solidFill>
                  <a:srgbClr val="14181C"/>
                </a:solidFill>
                <a:latin typeface="Arial" pitchFamily="34" charset="0"/>
                <a:ea typeface="Arial" pitchFamily="34" charset="-122"/>
                <a:cs typeface="Arial" pitchFamily="34" charset="-120"/>
              </a:rPr>
              <a:t>Google sign-in unconfigured</a:t>
            </a:r>
            <a:endParaRPr lang="en-US" sz="1400" dirty="0"/>
          </a:p>
        </p:txBody>
      </p:sp>
      <p:sp>
        <p:nvSpPr>
          <p:cNvPr id="16" name="Text 14"/>
          <p:cNvSpPr txBox="1"/>
          <p:nvPr/>
        </p:nvSpPr>
        <p:spPr>
          <a:xfrm>
            <a:off x="1325880" y="4389120"/>
            <a:ext cx="4289908" cy="640080"/>
          </a:xfrm>
          <a:prstGeom prst="rect">
            <a:avLst/>
          </a:prstGeom>
          <a:noFill/>
          <a:ln/>
        </p:spPr>
        <p:txBody>
          <a:bodyPr wrap="square" lIns="0" tIns="0" rIns="0" bIns="0" rtlCol="0" anchor="t"/>
          <a:lstStyle/>
          <a:p>
            <a:pPr algn="l" indent="0" marL="0">
              <a:lnSpc>
                <a:spcPct val="120000"/>
              </a:lnSpc>
              <a:buNone/>
            </a:pPr>
            <a:r>
              <a:rPr lang="en-US" sz="1150" dirty="0">
                <a:solidFill>
                  <a:srgbClr val="6B747D"/>
                </a:solidFill>
                <a:latin typeface="Calibri" pitchFamily="34" charset="0"/>
                <a:ea typeface="Calibri" pitchFamily="34" charset="-122"/>
                <a:cs typeface="Calibri" pitchFamily="34" charset="-120"/>
              </a:rPr>
              <a:t>The code path exists but has never been run against Google. The app says so instead of pretending. Local sign-in is used.</a:t>
            </a:r>
            <a:endParaRPr lang="en-US" sz="1150" dirty="0"/>
          </a:p>
        </p:txBody>
      </p:sp>
      <p:sp>
        <p:nvSpPr>
          <p:cNvPr id="17" name="Shape 15"/>
          <p:cNvSpPr/>
          <p:nvPr/>
        </p:nvSpPr>
        <p:spPr>
          <a:xfrm>
            <a:off x="6301588" y="3749040"/>
            <a:ext cx="5250028" cy="1371600"/>
          </a:xfrm>
          <a:prstGeom prst="roundRect">
            <a:avLst>
              <a:gd name="adj" fmla="val 5333"/>
            </a:avLst>
          </a:prstGeom>
          <a:solidFill>
            <a:srgbClr val="F1F3F5"/>
          </a:solidFill>
          <a:ln/>
          <a:effectLst>
            <a:outerShdw sx="100000" sy="100000" kx="0" ky="0" algn="bl" rotWithShape="0" blurRad="101600" dist="508" dir="5400000">
              <a:srgbClr val="000000">
                <a:alpha val="10000"/>
              </a:srgbClr>
            </a:outerShdw>
          </a:effectLst>
        </p:spPr>
      </p:sp>
      <p:sp>
        <p:nvSpPr>
          <p:cNvPr id="18" name="Shape 16"/>
          <p:cNvSpPr/>
          <p:nvPr/>
        </p:nvSpPr>
        <p:spPr>
          <a:xfrm>
            <a:off x="6575908" y="4041648"/>
            <a:ext cx="274320" cy="274320"/>
          </a:xfrm>
          <a:prstGeom prst="ellipse">
            <a:avLst/>
          </a:prstGeom>
          <a:solidFill>
            <a:srgbClr val="E07B12"/>
          </a:solidFill>
          <a:ln/>
        </p:spPr>
      </p:sp>
      <p:sp>
        <p:nvSpPr>
          <p:cNvPr id="19" name="Text 17"/>
          <p:cNvSpPr txBox="1"/>
          <p:nvPr/>
        </p:nvSpPr>
        <p:spPr>
          <a:xfrm>
            <a:off x="6987388" y="3950208"/>
            <a:ext cx="4289908" cy="411480"/>
          </a:xfrm>
          <a:prstGeom prst="rect">
            <a:avLst/>
          </a:prstGeom>
          <a:noFill/>
          <a:ln/>
        </p:spPr>
        <p:txBody>
          <a:bodyPr wrap="square" lIns="0" tIns="0" rIns="0" bIns="0" rtlCol="0" anchor="ctr"/>
          <a:lstStyle/>
          <a:p>
            <a:pPr indent="0" marL="0">
              <a:buNone/>
            </a:pPr>
            <a:r>
              <a:rPr lang="en-US" sz="1400" b="1" dirty="0">
                <a:solidFill>
                  <a:srgbClr val="14181C"/>
                </a:solidFill>
                <a:latin typeface="Arial" pitchFamily="34" charset="0"/>
                <a:ea typeface="Arial" pitchFamily="34" charset="-122"/>
                <a:cs typeface="Arial" pitchFamily="34" charset="-120"/>
              </a:rPr>
              <a:t>Limited device testing</a:t>
            </a:r>
            <a:endParaRPr lang="en-US" sz="1400" dirty="0"/>
          </a:p>
        </p:txBody>
      </p:sp>
      <p:sp>
        <p:nvSpPr>
          <p:cNvPr id="20" name="Text 18"/>
          <p:cNvSpPr txBox="1"/>
          <p:nvPr/>
        </p:nvSpPr>
        <p:spPr>
          <a:xfrm>
            <a:off x="6987388" y="4389120"/>
            <a:ext cx="4289908" cy="640080"/>
          </a:xfrm>
          <a:prstGeom prst="rect">
            <a:avLst/>
          </a:prstGeom>
          <a:noFill/>
          <a:ln/>
        </p:spPr>
        <p:txBody>
          <a:bodyPr wrap="square" lIns="0" tIns="0" rIns="0" bIns="0" rtlCol="0" anchor="t"/>
          <a:lstStyle/>
          <a:p>
            <a:pPr algn="l" indent="0" marL="0">
              <a:lnSpc>
                <a:spcPct val="120000"/>
              </a:lnSpc>
              <a:buNone/>
            </a:pPr>
            <a:r>
              <a:rPr lang="en-US" sz="1150" dirty="0">
                <a:solidFill>
                  <a:srgbClr val="6B747D"/>
                </a:solidFill>
                <a:latin typeface="Calibri" pitchFamily="34" charset="0"/>
                <a:ea typeface="Calibri" pitchFamily="34" charset="-122"/>
                <a:cs typeface="Calibri" pitchFamily="34" charset="-120"/>
              </a:rPr>
              <a:t>Touch controls are built and the layout is responsive, but they have not been tested on a real phone or tablet. Chromium only so far.</a:t>
            </a:r>
            <a:endParaRPr lang="en-US" sz="1150" dirty="0"/>
          </a:p>
        </p:txBody>
      </p:sp>
      <p:sp>
        <p:nvSpPr>
          <p:cNvPr id="21" name="Shape 19"/>
          <p:cNvSpPr/>
          <p:nvPr/>
        </p:nvSpPr>
        <p:spPr>
          <a:xfrm>
            <a:off x="640080" y="5440680"/>
            <a:ext cx="10911535" cy="777240"/>
          </a:xfrm>
          <a:prstGeom prst="roundRect">
            <a:avLst>
              <a:gd name="adj" fmla="val 9412"/>
            </a:avLst>
          </a:prstGeom>
          <a:solidFill>
            <a:srgbClr val="14181C"/>
          </a:solidFill>
          <a:ln/>
        </p:spPr>
      </p:sp>
      <p:sp>
        <p:nvSpPr>
          <p:cNvPr id="22" name="Text 20"/>
          <p:cNvSpPr txBox="1"/>
          <p:nvPr/>
        </p:nvSpPr>
        <p:spPr>
          <a:xfrm>
            <a:off x="960120" y="5440680"/>
            <a:ext cx="10241280" cy="777240"/>
          </a:xfrm>
          <a:prstGeom prst="rect">
            <a:avLst/>
          </a:prstGeom>
          <a:noFill/>
          <a:ln/>
        </p:spPr>
        <p:txBody>
          <a:bodyPr wrap="square" lIns="0" tIns="0" rIns="0" bIns="0" rtlCol="0" anchor="ctr"/>
          <a:lstStyle/>
          <a:p>
            <a:pPr indent="0" marL="0">
              <a:buNone/>
            </a:pPr>
            <a:r>
              <a:rPr lang="en-US" sz="1400" b="1" dirty="0">
                <a:solidFill>
                  <a:srgbClr val="F2B90C"/>
                </a:solidFill>
                <a:latin typeface="Calibri" pitchFamily="34" charset="0"/>
                <a:ea typeface="Calibri" pitchFamily="34" charset="-122"/>
                <a:cs typeface="Calibri" pitchFamily="34" charset="-120"/>
              </a:rPr>
              <a:t>Everything above is written into the repository documentation — not discovered later.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GETTING IT IN FRONT OF PEOPLE</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Three ways to run it today</a:t>
            </a:r>
            <a:endParaRPr lang="en-US" sz="3200" dirty="0"/>
          </a:p>
        </p:txBody>
      </p:sp>
      <p:sp>
        <p:nvSpPr>
          <p:cNvPr id="4" name="Shape 2"/>
          <p:cNvSpPr/>
          <p:nvPr/>
        </p:nvSpPr>
        <p:spPr>
          <a:xfrm>
            <a:off x="640080" y="1554480"/>
            <a:ext cx="3484778" cy="2286000"/>
          </a:xfrm>
          <a:prstGeom prst="roundRect">
            <a:avLst>
              <a:gd name="adj" fmla="val 3200"/>
            </a:avLst>
          </a:prstGeom>
          <a:solidFill>
            <a:srgbClr val="F1F3F5"/>
          </a:solidFill>
          <a:ln/>
          <a:effectLst>
            <a:outerShdw sx="100000" sy="100000" kx="0" ky="0" algn="bl" rotWithShape="0" blurRad="101600" dist="508" dir="5400000">
              <a:srgbClr val="000000">
                <a:alpha val="10000"/>
              </a:srgbClr>
            </a:outerShdw>
          </a:effectLst>
        </p:spPr>
      </p:sp>
      <p:sp>
        <p:nvSpPr>
          <p:cNvPr id="5" name="Shape 3"/>
          <p:cNvSpPr/>
          <p:nvPr/>
        </p:nvSpPr>
        <p:spPr>
          <a:xfrm>
            <a:off x="960120" y="1828800"/>
            <a:ext cx="420624" cy="420624"/>
          </a:xfrm>
          <a:prstGeom prst="ellipse">
            <a:avLst/>
          </a:prstGeom>
          <a:solidFill>
            <a:srgbClr val="F2B90C"/>
          </a:solidFill>
          <a:ln/>
        </p:spPr>
      </p:sp>
      <p:sp>
        <p:nvSpPr>
          <p:cNvPr id="6" name="Text 4"/>
          <p:cNvSpPr txBox="1"/>
          <p:nvPr/>
        </p:nvSpPr>
        <p:spPr>
          <a:xfrm>
            <a:off x="960120" y="1828800"/>
            <a:ext cx="420624" cy="420624"/>
          </a:xfrm>
          <a:prstGeom prst="rect">
            <a:avLst/>
          </a:prstGeom>
          <a:noFill/>
          <a:ln/>
        </p:spPr>
        <p:txBody>
          <a:bodyPr wrap="square" lIns="0" tIns="0" rIns="0" bIns="0" rtlCol="0" anchor="ctr"/>
          <a:lstStyle/>
          <a:p>
            <a:pPr algn="ctr" indent="0" marL="0">
              <a:buNone/>
            </a:pPr>
            <a:r>
              <a:rPr lang="en-US" sz="1400" b="1" dirty="0">
                <a:solidFill>
                  <a:srgbClr val="14181C"/>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60120" y="2377440"/>
            <a:ext cx="2844698" cy="411480"/>
          </a:xfrm>
          <a:prstGeom prst="rect">
            <a:avLst/>
          </a:prstGeom>
          <a:noFill/>
          <a:ln/>
        </p:spPr>
        <p:txBody>
          <a:bodyPr wrap="square" lIns="0" tIns="0" rIns="0" bIns="0" rtlCol="0" anchor="t"/>
          <a:lstStyle/>
          <a:p>
            <a:pPr indent="0" marL="0">
              <a:buNone/>
            </a:pPr>
            <a:r>
              <a:rPr lang="en-US" sz="1600" b="1" dirty="0">
                <a:solidFill>
                  <a:srgbClr val="14181C"/>
                </a:solidFill>
                <a:latin typeface="Arial" pitchFamily="34" charset="0"/>
                <a:ea typeface="Arial" pitchFamily="34" charset="-122"/>
                <a:cs typeface="Arial" pitchFamily="34" charset="-120"/>
              </a:rPr>
              <a:t>Open a link</a:t>
            </a:r>
            <a:endParaRPr lang="en-US" sz="1600" dirty="0"/>
          </a:p>
        </p:txBody>
      </p:sp>
      <p:sp>
        <p:nvSpPr>
          <p:cNvPr id="8" name="Text 6"/>
          <p:cNvSpPr txBox="1"/>
          <p:nvPr/>
        </p:nvSpPr>
        <p:spPr>
          <a:xfrm>
            <a:off x="960120" y="2834640"/>
            <a:ext cx="2844698" cy="1005840"/>
          </a:xfrm>
          <a:prstGeom prst="rect">
            <a:avLst/>
          </a:prstGeom>
          <a:noFill/>
          <a:ln/>
        </p:spPr>
        <p:txBody>
          <a:bodyPr wrap="square" lIns="0" tIns="0" rIns="0" bIns="0" rtlCol="0" anchor="t"/>
          <a:lstStyle/>
          <a:p>
            <a:pPr algn="l" indent="0" marL="0">
              <a:lnSpc>
                <a:spcPct val="120000"/>
              </a:lnSpc>
              <a:buNone/>
            </a:pPr>
            <a:r>
              <a:rPr lang="en-US" sz="1250" dirty="0">
                <a:solidFill>
                  <a:srgbClr val="6B747D"/>
                </a:solidFill>
                <a:latin typeface="Calibri" pitchFamily="34" charset="0"/>
                <a:ea typeface="Calibri" pitchFamily="34" charset="-122"/>
                <a:cs typeface="Calibri" pitchFamily="34" charset="-120"/>
              </a:rPr>
              <a:t>Hosted online. Nothing to install — it runs in the browser the trainee already has.</a:t>
            </a:r>
            <a:endParaRPr lang="en-US" sz="1250" dirty="0"/>
          </a:p>
        </p:txBody>
      </p:sp>
      <p:sp>
        <p:nvSpPr>
          <p:cNvPr id="9" name="Shape 7"/>
          <p:cNvSpPr/>
          <p:nvPr/>
        </p:nvSpPr>
        <p:spPr>
          <a:xfrm>
            <a:off x="4353458" y="1554480"/>
            <a:ext cx="3484778" cy="2286000"/>
          </a:xfrm>
          <a:prstGeom prst="roundRect">
            <a:avLst>
              <a:gd name="adj" fmla="val 3200"/>
            </a:avLst>
          </a:prstGeom>
          <a:solidFill>
            <a:srgbClr val="F1F3F5"/>
          </a:solidFill>
          <a:ln/>
          <a:effectLst>
            <a:outerShdw sx="100000" sy="100000" kx="0" ky="0" algn="bl" rotWithShape="0" blurRad="101600" dist="508" dir="5400000">
              <a:srgbClr val="000000">
                <a:alpha val="10000"/>
              </a:srgbClr>
            </a:outerShdw>
          </a:effectLst>
        </p:spPr>
      </p:sp>
      <p:sp>
        <p:nvSpPr>
          <p:cNvPr id="10" name="Shape 8"/>
          <p:cNvSpPr/>
          <p:nvPr/>
        </p:nvSpPr>
        <p:spPr>
          <a:xfrm>
            <a:off x="4673498" y="1828800"/>
            <a:ext cx="420624" cy="420624"/>
          </a:xfrm>
          <a:prstGeom prst="ellipse">
            <a:avLst/>
          </a:prstGeom>
          <a:solidFill>
            <a:srgbClr val="E07B12"/>
          </a:solidFill>
          <a:ln/>
        </p:spPr>
      </p:sp>
      <p:sp>
        <p:nvSpPr>
          <p:cNvPr id="11" name="Text 9"/>
          <p:cNvSpPr txBox="1"/>
          <p:nvPr/>
        </p:nvSpPr>
        <p:spPr>
          <a:xfrm>
            <a:off x="4673498" y="1828800"/>
            <a:ext cx="420624" cy="420624"/>
          </a:xfrm>
          <a:prstGeom prst="rect">
            <a:avLst/>
          </a:prstGeom>
          <a:noFill/>
          <a:ln/>
        </p:spPr>
        <p:txBody>
          <a:bodyPr wrap="square" lIns="0" tIns="0" rIns="0" bIns="0" rtlCol="0" anchor="ctr"/>
          <a:lstStyle/>
          <a:p>
            <a:pPr algn="ctr" indent="0" marL="0">
              <a:buNone/>
            </a:pPr>
            <a:r>
              <a:rPr lang="en-US" sz="1400" b="1" dirty="0">
                <a:solidFill>
                  <a:srgbClr val="14181C"/>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673498" y="2377440"/>
            <a:ext cx="2844698" cy="411480"/>
          </a:xfrm>
          <a:prstGeom prst="rect">
            <a:avLst/>
          </a:prstGeom>
          <a:noFill/>
          <a:ln/>
        </p:spPr>
        <p:txBody>
          <a:bodyPr wrap="square" lIns="0" tIns="0" rIns="0" bIns="0" rtlCol="0" anchor="t"/>
          <a:lstStyle/>
          <a:p>
            <a:pPr indent="0" marL="0">
              <a:buNone/>
            </a:pPr>
            <a:r>
              <a:rPr lang="en-US" sz="1600" b="1" dirty="0">
                <a:solidFill>
                  <a:srgbClr val="14181C"/>
                </a:solidFill>
                <a:latin typeface="Arial" pitchFamily="34" charset="0"/>
                <a:ea typeface="Arial" pitchFamily="34" charset="-122"/>
                <a:cs typeface="Arial" pitchFamily="34" charset="-120"/>
              </a:rPr>
              <a:t>Open one file</a:t>
            </a:r>
            <a:endParaRPr lang="en-US" sz="1600" dirty="0"/>
          </a:p>
        </p:txBody>
      </p:sp>
      <p:sp>
        <p:nvSpPr>
          <p:cNvPr id="13" name="Text 11"/>
          <p:cNvSpPr txBox="1"/>
          <p:nvPr/>
        </p:nvSpPr>
        <p:spPr>
          <a:xfrm>
            <a:off x="4673498" y="2834640"/>
            <a:ext cx="2844698" cy="1005840"/>
          </a:xfrm>
          <a:prstGeom prst="rect">
            <a:avLst/>
          </a:prstGeom>
          <a:noFill/>
          <a:ln/>
        </p:spPr>
        <p:txBody>
          <a:bodyPr wrap="square" lIns="0" tIns="0" rIns="0" bIns="0" rtlCol="0" anchor="t"/>
          <a:lstStyle/>
          <a:p>
            <a:pPr algn="l" indent="0" marL="0">
              <a:lnSpc>
                <a:spcPct val="120000"/>
              </a:lnSpc>
              <a:buNone/>
            </a:pPr>
            <a:r>
              <a:rPr lang="en-US" sz="1250" dirty="0">
                <a:solidFill>
                  <a:srgbClr val="6B747D"/>
                </a:solidFill>
                <a:latin typeface="Calibri" pitchFamily="34" charset="0"/>
                <a:ea typeface="Calibri" pitchFamily="34" charset="-122"/>
                <a:cs typeface="Calibri" pitchFamily="34" charset="-120"/>
              </a:rPr>
              <a:t>The entire game is also a single 677 kB HTML file. Double-click it. No server, no internet.</a:t>
            </a:r>
            <a:endParaRPr lang="en-US" sz="1250" dirty="0"/>
          </a:p>
        </p:txBody>
      </p:sp>
      <p:sp>
        <p:nvSpPr>
          <p:cNvPr id="14" name="Shape 12"/>
          <p:cNvSpPr/>
          <p:nvPr/>
        </p:nvSpPr>
        <p:spPr>
          <a:xfrm>
            <a:off x="8066837" y="1554480"/>
            <a:ext cx="3484778" cy="2286000"/>
          </a:xfrm>
          <a:prstGeom prst="roundRect">
            <a:avLst>
              <a:gd name="adj" fmla="val 3200"/>
            </a:avLst>
          </a:prstGeom>
          <a:solidFill>
            <a:srgbClr val="F1F3F5"/>
          </a:solidFill>
          <a:ln/>
          <a:effectLst>
            <a:outerShdw sx="100000" sy="100000" kx="0" ky="0" algn="bl" rotWithShape="0" blurRad="101600" dist="508" dir="5400000">
              <a:srgbClr val="000000">
                <a:alpha val="10000"/>
              </a:srgbClr>
            </a:outerShdw>
          </a:effectLst>
        </p:spPr>
      </p:sp>
      <p:sp>
        <p:nvSpPr>
          <p:cNvPr id="15" name="Shape 13"/>
          <p:cNvSpPr/>
          <p:nvPr/>
        </p:nvSpPr>
        <p:spPr>
          <a:xfrm>
            <a:off x="8386877" y="1828800"/>
            <a:ext cx="420624" cy="420624"/>
          </a:xfrm>
          <a:prstGeom prst="ellipse">
            <a:avLst/>
          </a:prstGeom>
          <a:solidFill>
            <a:srgbClr val="1F8A4C"/>
          </a:solidFill>
          <a:ln/>
        </p:spPr>
      </p:sp>
      <p:sp>
        <p:nvSpPr>
          <p:cNvPr id="16" name="Text 14"/>
          <p:cNvSpPr txBox="1"/>
          <p:nvPr/>
        </p:nvSpPr>
        <p:spPr>
          <a:xfrm>
            <a:off x="8386877" y="1828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86877" y="2377440"/>
            <a:ext cx="2844698" cy="411480"/>
          </a:xfrm>
          <a:prstGeom prst="rect">
            <a:avLst/>
          </a:prstGeom>
          <a:noFill/>
          <a:ln/>
        </p:spPr>
        <p:txBody>
          <a:bodyPr wrap="square" lIns="0" tIns="0" rIns="0" bIns="0" rtlCol="0" anchor="t"/>
          <a:lstStyle/>
          <a:p>
            <a:pPr indent="0" marL="0">
              <a:buNone/>
            </a:pPr>
            <a:r>
              <a:rPr lang="en-US" sz="1600" b="1" dirty="0">
                <a:solidFill>
                  <a:srgbClr val="14181C"/>
                </a:solidFill>
                <a:latin typeface="Arial" pitchFamily="34" charset="0"/>
                <a:ea typeface="Arial" pitchFamily="34" charset="-122"/>
                <a:cs typeface="Arial" pitchFamily="34" charset="-120"/>
              </a:rPr>
              <a:t>Host it yourself</a:t>
            </a:r>
            <a:endParaRPr lang="en-US" sz="1600" dirty="0"/>
          </a:p>
        </p:txBody>
      </p:sp>
      <p:sp>
        <p:nvSpPr>
          <p:cNvPr id="18" name="Text 16"/>
          <p:cNvSpPr txBox="1"/>
          <p:nvPr/>
        </p:nvSpPr>
        <p:spPr>
          <a:xfrm>
            <a:off x="8386877" y="2834640"/>
            <a:ext cx="2844698" cy="1005840"/>
          </a:xfrm>
          <a:prstGeom prst="rect">
            <a:avLst/>
          </a:prstGeom>
          <a:noFill/>
          <a:ln/>
        </p:spPr>
        <p:txBody>
          <a:bodyPr wrap="square" lIns="0" tIns="0" rIns="0" bIns="0" rtlCol="0" anchor="t"/>
          <a:lstStyle/>
          <a:p>
            <a:pPr algn="l" indent="0" marL="0">
              <a:lnSpc>
                <a:spcPct val="120000"/>
              </a:lnSpc>
              <a:buNone/>
            </a:pPr>
            <a:r>
              <a:rPr lang="en-US" sz="1250" dirty="0">
                <a:solidFill>
                  <a:srgbClr val="6B747D"/>
                </a:solidFill>
                <a:latin typeface="Calibri" pitchFamily="34" charset="0"/>
                <a:ea typeface="Calibri" pitchFamily="34" charset="-122"/>
                <a:cs typeface="Calibri" pitchFamily="34" charset="-120"/>
              </a:rPr>
              <a:t>A plain static site. Drops onto the client's own intranet or any web host.</a:t>
            </a:r>
            <a:endParaRPr lang="en-US" sz="1250" dirty="0"/>
          </a:p>
        </p:txBody>
      </p:sp>
      <p:sp>
        <p:nvSpPr>
          <p:cNvPr id="19" name="Shape 17"/>
          <p:cNvSpPr/>
          <p:nvPr/>
        </p:nvSpPr>
        <p:spPr>
          <a:xfrm>
            <a:off x="640080" y="4114800"/>
            <a:ext cx="10911535" cy="1691640"/>
          </a:xfrm>
          <a:prstGeom prst="roundRect">
            <a:avLst>
              <a:gd name="adj" fmla="val 4324"/>
            </a:avLst>
          </a:prstGeom>
          <a:solidFill>
            <a:srgbClr val="F1F3F5"/>
          </a:solidFill>
          <a:ln/>
          <a:effectLst>
            <a:outerShdw sx="100000" sy="100000" kx="0" ky="0" algn="bl" rotWithShape="0" blurRad="101600" dist="508" dir="5400000">
              <a:srgbClr val="000000">
                <a:alpha val="10000"/>
              </a:srgbClr>
            </a:outerShdw>
          </a:effectLst>
        </p:spPr>
      </p:sp>
      <p:sp>
        <p:nvSpPr>
          <p:cNvPr id="20" name="Text 18"/>
          <p:cNvSpPr txBox="1"/>
          <p:nvPr/>
        </p:nvSpPr>
        <p:spPr>
          <a:xfrm>
            <a:off x="1005840" y="4343400"/>
            <a:ext cx="6858000" cy="365760"/>
          </a:xfrm>
          <a:prstGeom prst="rect">
            <a:avLst/>
          </a:prstGeom>
          <a:noFill/>
          <a:ln/>
        </p:spPr>
        <p:txBody>
          <a:bodyPr wrap="square" lIns="0" tIns="0" rIns="0" bIns="0" rtlCol="0" anchor="ctr"/>
          <a:lstStyle/>
          <a:p>
            <a:pPr indent="0" marL="0">
              <a:buNone/>
            </a:pPr>
            <a:r>
              <a:rPr lang="en-US" sz="1600" b="1" dirty="0">
                <a:solidFill>
                  <a:srgbClr val="14181C"/>
                </a:solidFill>
                <a:latin typeface="Arial" pitchFamily="34" charset="0"/>
                <a:ea typeface="Arial" pitchFamily="34" charset="-122"/>
                <a:cs typeface="Arial" pitchFamily="34" charset="-120"/>
              </a:rPr>
              <a:t>Works offline, on the machines they already have</a:t>
            </a:r>
            <a:endParaRPr lang="en-US" sz="1600" dirty="0"/>
          </a:p>
        </p:txBody>
      </p:sp>
      <p:sp>
        <p:nvSpPr>
          <p:cNvPr id="21" name="Text 19"/>
          <p:cNvSpPr txBox="1"/>
          <p:nvPr/>
        </p:nvSpPr>
        <p:spPr>
          <a:xfrm>
            <a:off x="1005840" y="4754880"/>
            <a:ext cx="7498080" cy="822960"/>
          </a:xfrm>
          <a:prstGeom prst="rect">
            <a:avLst/>
          </a:prstGeom>
          <a:noFill/>
          <a:ln/>
        </p:spPr>
        <p:txBody>
          <a:bodyPr wrap="square" lIns="0" tIns="0" rIns="0" bIns="0" rtlCol="0" anchor="t"/>
          <a:lstStyle/>
          <a:p>
            <a:pPr algn="l" indent="0" marL="0">
              <a:lnSpc>
                <a:spcPct val="120000"/>
              </a:lnSpc>
              <a:buNone/>
            </a:pPr>
            <a:r>
              <a:rPr lang="en-US" sz="1300" dirty="0">
                <a:solidFill>
                  <a:srgbClr val="3C444C"/>
                </a:solidFill>
                <a:latin typeface="Calibri" pitchFamily="34" charset="0"/>
                <a:ea typeface="Calibri" pitchFamily="34" charset="-122"/>
                <a:cs typeface="Calibri" pitchFamily="34" charset="-120"/>
              </a:rPr>
              <a:t>No server, no database and no account are required for the core training. That matters on a warehouse site, where network coverage on the floor is often poor and IT approval for new software is slow.</a:t>
            </a:r>
            <a:endParaRPr lang="en-US" sz="1300" dirty="0"/>
          </a:p>
        </p:txBody>
      </p:sp>
      <p:sp>
        <p:nvSpPr>
          <p:cNvPr id="22" name="Text 20"/>
          <p:cNvSpPr txBox="1"/>
          <p:nvPr/>
        </p:nvSpPr>
        <p:spPr>
          <a:xfrm>
            <a:off x="8503920" y="4389120"/>
            <a:ext cx="2926080" cy="594360"/>
          </a:xfrm>
          <a:prstGeom prst="rect">
            <a:avLst/>
          </a:prstGeom>
          <a:noFill/>
          <a:ln/>
        </p:spPr>
        <p:txBody>
          <a:bodyPr wrap="square" lIns="0" tIns="0" rIns="0" bIns="0" rtlCol="0" anchor="ctr"/>
          <a:lstStyle/>
          <a:p>
            <a:pPr algn="r" indent="0" marL="0">
              <a:buNone/>
            </a:pPr>
            <a:r>
              <a:rPr lang="en-US" sz="3200" b="1" dirty="0">
                <a:solidFill>
                  <a:srgbClr val="F2B90C"/>
                </a:solidFill>
                <a:latin typeface="Arial" pitchFamily="34" charset="0"/>
                <a:ea typeface="Arial" pitchFamily="34" charset="-122"/>
                <a:cs typeface="Arial" pitchFamily="34" charset="-120"/>
              </a:rPr>
              <a:t>677 kB</a:t>
            </a:r>
            <a:endParaRPr lang="en-US" sz="3200" dirty="0"/>
          </a:p>
        </p:txBody>
      </p:sp>
      <p:sp>
        <p:nvSpPr>
          <p:cNvPr id="23" name="Text 21"/>
          <p:cNvSpPr txBox="1"/>
          <p:nvPr/>
        </p:nvSpPr>
        <p:spPr>
          <a:xfrm>
            <a:off x="8503920" y="4983480"/>
            <a:ext cx="2926080" cy="320040"/>
          </a:xfrm>
          <a:prstGeom prst="rect">
            <a:avLst/>
          </a:prstGeom>
          <a:noFill/>
          <a:ln/>
        </p:spPr>
        <p:txBody>
          <a:bodyPr wrap="square" lIns="0" tIns="0" rIns="0" bIns="0" rtlCol="0" anchor="ctr"/>
          <a:lstStyle/>
          <a:p>
            <a:pPr algn="r" indent="0" marL="0">
              <a:buNone/>
            </a:pPr>
            <a:r>
              <a:rPr lang="en-US" sz="1200" dirty="0">
                <a:solidFill>
                  <a:srgbClr val="6B747D"/>
                </a:solidFill>
                <a:latin typeface="Calibri" pitchFamily="34" charset="0"/>
                <a:ea typeface="Calibri" pitchFamily="34" charset="-122"/>
                <a:cs typeface="Calibri" pitchFamily="34" charset="-120"/>
              </a:rPr>
              <a:t>the whole game, one file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algn="l" indent="0" marL="0">
              <a:buNone/>
            </a:pPr>
            <a:r>
              <a:rPr lang="en-US" sz="1200" b="1" spc="200" kern="0" dirty="0">
                <a:solidFill>
                  <a:srgbClr val="F2B90C"/>
                </a:solidFill>
                <a:latin typeface="Calibri" pitchFamily="34" charset="0"/>
                <a:ea typeface="Calibri" pitchFamily="34" charset="-122"/>
                <a:cs typeface="Calibri" pitchFamily="34" charset="-120"/>
              </a:rPr>
              <a:t>WHERE IT GOES NEXT</a:t>
            </a:r>
            <a:endParaRPr lang="en-US" sz="1200" dirty="0"/>
          </a:p>
        </p:txBody>
      </p:sp>
      <p:sp>
        <p:nvSpPr>
          <p:cNvPr id="3" name="Text 1"/>
          <p:cNvSpPr txBox="1"/>
          <p:nvPr/>
        </p:nvSpPr>
        <p:spPr>
          <a:xfrm>
            <a:off x="640080" y="713232"/>
            <a:ext cx="10911535" cy="731520"/>
          </a:xfrm>
          <a:prstGeom prst="rect">
            <a:avLst/>
          </a:prstGeom>
          <a:noFill/>
          <a:ln/>
        </p:spPr>
        <p:txBody>
          <a:bodyPr wrap="square" lIns="0" tIns="0" rIns="0" bIns="0" rtlCol="0" anchor="ctr"/>
          <a:lstStyle/>
          <a:p>
            <a:pPr algn="l" indent="0" marL="0">
              <a:buNone/>
            </a:pPr>
            <a:r>
              <a:rPr lang="en-US" sz="3200" b="1" dirty="0">
                <a:solidFill>
                  <a:srgbClr val="14181C"/>
                </a:solidFill>
                <a:latin typeface="Arial" pitchFamily="34" charset="0"/>
                <a:ea typeface="Arial" pitchFamily="34" charset="-122"/>
                <a:cs typeface="Arial" pitchFamily="34" charset="-120"/>
              </a:rPr>
              <a:t>Roadmap</a:t>
            </a:r>
            <a:endParaRPr lang="en-US" sz="3200" dirty="0"/>
          </a:p>
        </p:txBody>
      </p:sp>
      <p:sp>
        <p:nvSpPr>
          <p:cNvPr id="4" name="Shape 2"/>
          <p:cNvSpPr/>
          <p:nvPr/>
        </p:nvSpPr>
        <p:spPr>
          <a:xfrm>
            <a:off x="640080" y="1600200"/>
            <a:ext cx="3484778" cy="3566160"/>
          </a:xfrm>
          <a:prstGeom prst="roundRect">
            <a:avLst>
              <a:gd name="adj" fmla="val 2099"/>
            </a:avLst>
          </a:prstGeom>
          <a:solidFill>
            <a:srgbClr val="F1F3F5"/>
          </a:solidFill>
          <a:ln/>
          <a:effectLst>
            <a:outerShdw sx="100000" sy="100000" kx="0" ky="0" algn="bl" rotWithShape="0" blurRad="101600" dist="508" dir="5400000">
              <a:srgbClr val="000000">
                <a:alpha val="10000"/>
              </a:srgbClr>
            </a:outerShdw>
          </a:effectLst>
        </p:spPr>
      </p:sp>
      <p:sp>
        <p:nvSpPr>
          <p:cNvPr id="5" name="Shape 3"/>
          <p:cNvSpPr/>
          <p:nvPr/>
        </p:nvSpPr>
        <p:spPr>
          <a:xfrm>
            <a:off x="960120" y="1874520"/>
            <a:ext cx="292608" cy="292608"/>
          </a:xfrm>
          <a:prstGeom prst="ellipse">
            <a:avLst/>
          </a:prstGeom>
          <a:solidFill>
            <a:srgbClr val="F2B90C"/>
          </a:solidFill>
          <a:ln/>
        </p:spPr>
      </p:sp>
      <p:sp>
        <p:nvSpPr>
          <p:cNvPr id="6" name="Text 4"/>
          <p:cNvSpPr txBox="1"/>
          <p:nvPr/>
        </p:nvSpPr>
        <p:spPr>
          <a:xfrm>
            <a:off x="1371600" y="1810512"/>
            <a:ext cx="2478938" cy="411480"/>
          </a:xfrm>
          <a:prstGeom prst="rect">
            <a:avLst/>
          </a:prstGeom>
          <a:noFill/>
          <a:ln/>
        </p:spPr>
        <p:txBody>
          <a:bodyPr wrap="square" lIns="0" tIns="0" rIns="0" bIns="0" rtlCol="0" anchor="ctr"/>
          <a:lstStyle/>
          <a:p>
            <a:pPr indent="0" marL="0">
              <a:buNone/>
            </a:pPr>
            <a:r>
              <a:rPr lang="en-US" sz="1600" b="1" dirty="0">
                <a:solidFill>
                  <a:srgbClr val="14181C"/>
                </a:solidFill>
                <a:latin typeface="Arial" pitchFamily="34" charset="0"/>
                <a:ea typeface="Arial" pitchFamily="34" charset="-122"/>
                <a:cs typeface="Arial" pitchFamily="34" charset="-120"/>
              </a:rPr>
              <a:t>Near term</a:t>
            </a:r>
            <a:endParaRPr lang="en-US" sz="1600" dirty="0"/>
          </a:p>
        </p:txBody>
      </p:sp>
      <p:sp>
        <p:nvSpPr>
          <p:cNvPr id="7" name="Text 5"/>
          <p:cNvSpPr txBox="1"/>
          <p:nvPr/>
        </p:nvSpPr>
        <p:spPr>
          <a:xfrm>
            <a:off x="960120" y="2423160"/>
            <a:ext cx="2844698" cy="2468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Real-device testing for touch controls</a:t>
            </a:r>
            <a:endParaRPr lang="en-US" sz="1250" dirty="0"/>
          </a:p>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Firefox and Safari verification</a:t>
            </a:r>
            <a:endParaRPr lang="en-US" sz="1250" dirty="0"/>
          </a:p>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Further draw-call optimisation</a:t>
            </a:r>
            <a:endParaRPr lang="en-US" sz="1250" dirty="0"/>
          </a:p>
        </p:txBody>
      </p:sp>
      <p:sp>
        <p:nvSpPr>
          <p:cNvPr id="8" name="Shape 6"/>
          <p:cNvSpPr/>
          <p:nvPr/>
        </p:nvSpPr>
        <p:spPr>
          <a:xfrm>
            <a:off x="4353458" y="1600200"/>
            <a:ext cx="3484778" cy="3566160"/>
          </a:xfrm>
          <a:prstGeom prst="roundRect">
            <a:avLst>
              <a:gd name="adj" fmla="val 2099"/>
            </a:avLst>
          </a:prstGeom>
          <a:solidFill>
            <a:srgbClr val="F1F3F5"/>
          </a:solidFill>
          <a:ln/>
          <a:effectLst>
            <a:outerShdw sx="100000" sy="100000" kx="0" ky="0" algn="bl" rotWithShape="0" blurRad="101600" dist="508" dir="5400000">
              <a:srgbClr val="000000">
                <a:alpha val="10000"/>
              </a:srgbClr>
            </a:outerShdw>
          </a:effectLst>
        </p:spPr>
      </p:sp>
      <p:sp>
        <p:nvSpPr>
          <p:cNvPr id="9" name="Shape 7"/>
          <p:cNvSpPr/>
          <p:nvPr/>
        </p:nvSpPr>
        <p:spPr>
          <a:xfrm>
            <a:off x="4673498" y="1874520"/>
            <a:ext cx="292608" cy="292608"/>
          </a:xfrm>
          <a:prstGeom prst="ellipse">
            <a:avLst/>
          </a:prstGeom>
          <a:solidFill>
            <a:srgbClr val="E07B12"/>
          </a:solidFill>
          <a:ln/>
        </p:spPr>
      </p:sp>
      <p:sp>
        <p:nvSpPr>
          <p:cNvPr id="10" name="Text 8"/>
          <p:cNvSpPr txBox="1"/>
          <p:nvPr/>
        </p:nvSpPr>
        <p:spPr>
          <a:xfrm>
            <a:off x="5084978" y="1810512"/>
            <a:ext cx="2478938" cy="411480"/>
          </a:xfrm>
          <a:prstGeom prst="rect">
            <a:avLst/>
          </a:prstGeom>
          <a:noFill/>
          <a:ln/>
        </p:spPr>
        <p:txBody>
          <a:bodyPr wrap="square" lIns="0" tIns="0" rIns="0" bIns="0" rtlCol="0" anchor="ctr"/>
          <a:lstStyle/>
          <a:p>
            <a:pPr indent="0" marL="0">
              <a:buNone/>
            </a:pPr>
            <a:r>
              <a:rPr lang="en-US" sz="1600" b="1" dirty="0">
                <a:solidFill>
                  <a:srgbClr val="14181C"/>
                </a:solidFill>
                <a:latin typeface="Arial" pitchFamily="34" charset="0"/>
                <a:ea typeface="Arial" pitchFamily="34" charset="-122"/>
                <a:cs typeface="Arial" pitchFamily="34" charset="-120"/>
              </a:rPr>
              <a:t>Client value</a:t>
            </a:r>
            <a:endParaRPr lang="en-US" sz="1600" dirty="0"/>
          </a:p>
        </p:txBody>
      </p:sp>
      <p:sp>
        <p:nvSpPr>
          <p:cNvPr id="11" name="Text 9"/>
          <p:cNvSpPr txBox="1"/>
          <p:nvPr/>
        </p:nvSpPr>
        <p:spPr>
          <a:xfrm>
            <a:off x="4673498" y="2423160"/>
            <a:ext cx="2844698" cy="2468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The client's own warehouse as a fourth site</a:t>
            </a:r>
            <a:endParaRPr lang="en-US" sz="1250" dirty="0"/>
          </a:p>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Instructor dashboard for cohort results</a:t>
            </a:r>
            <a:endParaRPr lang="en-US" sz="1250" dirty="0"/>
          </a:p>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Multi-language UI (signage is already bilingual)</a:t>
            </a:r>
            <a:endParaRPr lang="en-US" sz="1250" dirty="0"/>
          </a:p>
        </p:txBody>
      </p:sp>
      <p:sp>
        <p:nvSpPr>
          <p:cNvPr id="12" name="Shape 10"/>
          <p:cNvSpPr/>
          <p:nvPr/>
        </p:nvSpPr>
        <p:spPr>
          <a:xfrm>
            <a:off x="8066837" y="1600200"/>
            <a:ext cx="3484778" cy="3566160"/>
          </a:xfrm>
          <a:prstGeom prst="roundRect">
            <a:avLst>
              <a:gd name="adj" fmla="val 2099"/>
            </a:avLst>
          </a:prstGeom>
          <a:solidFill>
            <a:srgbClr val="F1F3F5"/>
          </a:solidFill>
          <a:ln/>
          <a:effectLst>
            <a:outerShdw sx="100000" sy="100000" kx="0" ky="0" algn="bl" rotWithShape="0" blurRad="101600" dist="508" dir="5400000">
              <a:srgbClr val="000000">
                <a:alpha val="10000"/>
              </a:srgbClr>
            </a:outerShdw>
          </a:effectLst>
        </p:spPr>
      </p:sp>
      <p:sp>
        <p:nvSpPr>
          <p:cNvPr id="13" name="Shape 11"/>
          <p:cNvSpPr/>
          <p:nvPr/>
        </p:nvSpPr>
        <p:spPr>
          <a:xfrm>
            <a:off x="8386877" y="1874520"/>
            <a:ext cx="292608" cy="292608"/>
          </a:xfrm>
          <a:prstGeom prst="ellipse">
            <a:avLst/>
          </a:prstGeom>
          <a:solidFill>
            <a:srgbClr val="1F8A4C"/>
          </a:solidFill>
          <a:ln/>
        </p:spPr>
      </p:sp>
      <p:sp>
        <p:nvSpPr>
          <p:cNvPr id="14" name="Text 12"/>
          <p:cNvSpPr txBox="1"/>
          <p:nvPr/>
        </p:nvSpPr>
        <p:spPr>
          <a:xfrm>
            <a:off x="8798357" y="1810512"/>
            <a:ext cx="2478938" cy="411480"/>
          </a:xfrm>
          <a:prstGeom prst="rect">
            <a:avLst/>
          </a:prstGeom>
          <a:noFill/>
          <a:ln/>
        </p:spPr>
        <p:txBody>
          <a:bodyPr wrap="square" lIns="0" tIns="0" rIns="0" bIns="0" rtlCol="0" anchor="ctr"/>
          <a:lstStyle/>
          <a:p>
            <a:pPr indent="0" marL="0">
              <a:buNone/>
            </a:pPr>
            <a:r>
              <a:rPr lang="en-US" sz="1600" b="1" dirty="0">
                <a:solidFill>
                  <a:srgbClr val="14181C"/>
                </a:solidFill>
                <a:latin typeface="Arial" pitchFamily="34" charset="0"/>
                <a:ea typeface="Arial" pitchFamily="34" charset="-122"/>
                <a:cs typeface="Arial" pitchFamily="34" charset="-120"/>
              </a:rPr>
              <a:t>Longer term</a:t>
            </a:r>
            <a:endParaRPr lang="en-US" sz="1600" dirty="0"/>
          </a:p>
        </p:txBody>
      </p:sp>
      <p:sp>
        <p:nvSpPr>
          <p:cNvPr id="15" name="Text 13"/>
          <p:cNvSpPr txBox="1"/>
          <p:nvPr/>
        </p:nvSpPr>
        <p:spPr>
          <a:xfrm>
            <a:off x="8386877" y="2423160"/>
            <a:ext cx="2844698" cy="24688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VR support, once a headset is available</a:t>
            </a:r>
            <a:endParaRPr lang="en-US" sz="1250" dirty="0"/>
          </a:p>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Round replay showing what was missed and where</a:t>
            </a:r>
            <a:endParaRPr lang="en-US" sz="1250" dirty="0"/>
          </a:p>
          <a:p>
            <a:pPr marL="342900" indent="-342900">
              <a:spcAft>
                <a:spcPts val="1000"/>
              </a:spcAft>
              <a:buSzPct val="100000"/>
              <a:buChar char="•"/>
            </a:pPr>
            <a:r>
              <a:rPr lang="en-US" sz="1250" dirty="0">
                <a:solidFill>
                  <a:srgbClr val="3C444C"/>
                </a:solidFill>
                <a:latin typeface="Calibri" pitchFamily="34" charset="0"/>
                <a:ea typeface="Calibri" pitchFamily="34" charset="-122"/>
                <a:cs typeface="Calibri" pitchFamily="34" charset="-120"/>
              </a:rPr>
              <a:t>Optional server-backed record keeping</a:t>
            </a:r>
            <a:endParaRPr lang="en-US" sz="1250" dirty="0"/>
          </a:p>
        </p:txBody>
      </p:sp>
      <p:sp>
        <p:nvSpPr>
          <p:cNvPr id="16" name="Text 14"/>
          <p:cNvSpPr txBox="1"/>
          <p:nvPr/>
        </p:nvSpPr>
        <p:spPr>
          <a:xfrm>
            <a:off x="640080" y="5440680"/>
            <a:ext cx="10911535" cy="457200"/>
          </a:xfrm>
          <a:prstGeom prst="rect">
            <a:avLst/>
          </a:prstGeom>
          <a:noFill/>
          <a:ln/>
        </p:spPr>
        <p:txBody>
          <a:bodyPr wrap="square" lIns="0" tIns="0" rIns="0" bIns="0" rtlCol="0" anchor="t"/>
          <a:lstStyle/>
          <a:p>
            <a:pPr algn="l" indent="0" marL="0">
              <a:lnSpc>
                <a:spcPct val="120000"/>
              </a:lnSpc>
              <a:buNone/>
            </a:pPr>
            <a:r>
              <a:rPr lang="en-US" sz="1300" i="1" dirty="0">
                <a:solidFill>
                  <a:srgbClr val="6B747D"/>
                </a:solidFill>
                <a:latin typeface="Calibri" pitchFamily="34" charset="0"/>
                <a:ea typeface="Calibri" pitchFamily="34" charset="-122"/>
                <a:cs typeface="Calibri" pitchFamily="34" charset="-120"/>
              </a:rPr>
              <a:t>The data layer is already behind a swappable adapter, so record keeping can move to a server without rewriting the game.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227"/>
        </a:solidFill>
      </p:bgPr>
    </p:bg>
    <p:spTree>
      <p:nvGrpSpPr>
        <p:cNvPr id="1" name=""/>
        <p:cNvGrpSpPr/>
        <p:nvPr/>
      </p:nvGrpSpPr>
      <p:grpSpPr>
        <a:xfrm>
          <a:off x="0" y="0"/>
          <a:ext cx="0" cy="0"/>
          <a:chOff x="0" y="0"/>
          <a:chExt cx="0" cy="0"/>
        </a:xfrm>
      </p:grpSpPr>
      <p:pic>
        <p:nvPicPr>
          <p:cNvPr id="2" name="Image 0" descr="C:\Users\acer\Desktop\interprize_project\ppt\shots\opt\hz_exit2.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181C">
              <a:alpha val="74000"/>
            </a:srgbClr>
          </a:solidFill>
          <a:ln/>
        </p:spPr>
      </p:sp>
      <p:sp>
        <p:nvSpPr>
          <p:cNvPr id="4" name="Text 1"/>
          <p:cNvSpPr txBox="1"/>
          <p:nvPr/>
        </p:nvSpPr>
        <p:spPr>
          <a:xfrm>
            <a:off x="640080" y="2103120"/>
            <a:ext cx="8229600" cy="914400"/>
          </a:xfrm>
          <a:prstGeom prst="rect">
            <a:avLst/>
          </a:prstGeom>
          <a:noFill/>
          <a:ln/>
        </p:spPr>
        <p:txBody>
          <a:bodyPr wrap="square" lIns="0" tIns="0" rIns="0" bIns="0" rtlCol="0" anchor="ctr"/>
          <a:lstStyle/>
          <a:p>
            <a:pPr indent="0" marL="0">
              <a:buNone/>
            </a:pPr>
            <a:r>
              <a:rPr lang="en-US" sz="4600" b="1" dirty="0">
                <a:solidFill>
                  <a:srgbClr val="F2B90C"/>
                </a:solidFill>
                <a:latin typeface="Arial" pitchFamily="34" charset="0"/>
                <a:ea typeface="Arial" pitchFamily="34" charset="-122"/>
                <a:cs typeface="Arial" pitchFamily="34" charset="-120"/>
              </a:rPr>
              <a:t>Thank you</a:t>
            </a:r>
            <a:endParaRPr lang="en-US" sz="4600" dirty="0"/>
          </a:p>
        </p:txBody>
      </p:sp>
      <p:sp>
        <p:nvSpPr>
          <p:cNvPr id="5" name="Text 2"/>
          <p:cNvSpPr txBox="1"/>
          <p:nvPr/>
        </p:nvSpPr>
        <p:spPr>
          <a:xfrm>
            <a:off x="640080" y="3108960"/>
            <a:ext cx="8229600" cy="45720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Questions — and a live demo whenever you are ready.</a:t>
            </a:r>
            <a:endParaRPr lang="en-US" sz="1900" dirty="0"/>
          </a:p>
        </p:txBody>
      </p:sp>
      <p:sp>
        <p:nvSpPr>
          <p:cNvPr id="6" name="Shape 3"/>
          <p:cNvSpPr/>
          <p:nvPr/>
        </p:nvSpPr>
        <p:spPr>
          <a:xfrm>
            <a:off x="640080" y="3794760"/>
            <a:ext cx="1371600" cy="32004"/>
          </a:xfrm>
          <a:prstGeom prst="rect">
            <a:avLst/>
          </a:prstGeom>
          <a:solidFill>
            <a:srgbClr val="F2B90C"/>
          </a:solidFill>
          <a:ln/>
        </p:spPr>
      </p:sp>
      <p:sp>
        <p:nvSpPr>
          <p:cNvPr id="7" name="Text 4"/>
          <p:cNvSpPr txBox="1"/>
          <p:nvPr/>
        </p:nvSpPr>
        <p:spPr>
          <a:xfrm>
            <a:off x="640080" y="4206240"/>
            <a:ext cx="219456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15</a:t>
            </a:r>
            <a:endParaRPr lang="en-US" sz="3000" dirty="0"/>
          </a:p>
        </p:txBody>
      </p:sp>
      <p:sp>
        <p:nvSpPr>
          <p:cNvPr id="8" name="Text 5"/>
          <p:cNvSpPr txBox="1"/>
          <p:nvPr/>
        </p:nvSpPr>
        <p:spPr>
          <a:xfrm>
            <a:off x="640080" y="4754880"/>
            <a:ext cx="2194560" cy="320040"/>
          </a:xfrm>
          <a:prstGeom prst="rect">
            <a:avLst/>
          </a:prstGeom>
          <a:noFill/>
          <a:ln/>
        </p:spPr>
        <p:txBody>
          <a:bodyPr wrap="square" lIns="0" tIns="0" rIns="0" bIns="0" rtlCol="0" anchor="ctr"/>
          <a:lstStyle/>
          <a:p>
            <a:pPr indent="0" marL="0">
              <a:buNone/>
            </a:pPr>
            <a:r>
              <a:rPr lang="en-US" sz="1200" dirty="0">
                <a:solidFill>
                  <a:srgbClr val="A8B2BB"/>
                </a:solidFill>
                <a:latin typeface="Calibri" pitchFamily="34" charset="0"/>
                <a:ea typeface="Calibri" pitchFamily="34" charset="-122"/>
                <a:cs typeface="Calibri" pitchFamily="34" charset="-120"/>
              </a:rPr>
              <a:t>hazards</a:t>
            </a:r>
            <a:endParaRPr lang="en-US" sz="1200" dirty="0"/>
          </a:p>
        </p:txBody>
      </p:sp>
      <p:sp>
        <p:nvSpPr>
          <p:cNvPr id="9" name="Text 6"/>
          <p:cNvSpPr txBox="1"/>
          <p:nvPr/>
        </p:nvSpPr>
        <p:spPr>
          <a:xfrm>
            <a:off x="3017520" y="4206240"/>
            <a:ext cx="219456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10" name="Text 7"/>
          <p:cNvSpPr txBox="1"/>
          <p:nvPr/>
        </p:nvSpPr>
        <p:spPr>
          <a:xfrm>
            <a:off x="3017520" y="4754880"/>
            <a:ext cx="2194560" cy="320040"/>
          </a:xfrm>
          <a:prstGeom prst="rect">
            <a:avLst/>
          </a:prstGeom>
          <a:noFill/>
          <a:ln/>
        </p:spPr>
        <p:txBody>
          <a:bodyPr wrap="square" lIns="0" tIns="0" rIns="0" bIns="0" rtlCol="0" anchor="ctr"/>
          <a:lstStyle/>
          <a:p>
            <a:pPr indent="0" marL="0">
              <a:buNone/>
            </a:pPr>
            <a:r>
              <a:rPr lang="en-US" sz="1200" dirty="0">
                <a:solidFill>
                  <a:srgbClr val="A8B2BB"/>
                </a:solidFill>
                <a:latin typeface="Calibri" pitchFamily="34" charset="0"/>
                <a:ea typeface="Calibri" pitchFamily="34" charset="-122"/>
                <a:cs typeface="Calibri" pitchFamily="34" charset="-120"/>
              </a:rPr>
              <a:t>environments</a:t>
            </a:r>
            <a:endParaRPr lang="en-US" sz="1200" dirty="0"/>
          </a:p>
        </p:txBody>
      </p:sp>
      <p:sp>
        <p:nvSpPr>
          <p:cNvPr id="11" name="Text 8"/>
          <p:cNvSpPr txBox="1"/>
          <p:nvPr/>
        </p:nvSpPr>
        <p:spPr>
          <a:xfrm>
            <a:off x="5394960" y="4206240"/>
            <a:ext cx="219456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94</a:t>
            </a:r>
            <a:endParaRPr lang="en-US" sz="3000" dirty="0"/>
          </a:p>
        </p:txBody>
      </p:sp>
      <p:sp>
        <p:nvSpPr>
          <p:cNvPr id="12" name="Text 9"/>
          <p:cNvSpPr txBox="1"/>
          <p:nvPr/>
        </p:nvSpPr>
        <p:spPr>
          <a:xfrm>
            <a:off x="5394960" y="4754880"/>
            <a:ext cx="2194560" cy="320040"/>
          </a:xfrm>
          <a:prstGeom prst="rect">
            <a:avLst/>
          </a:prstGeom>
          <a:noFill/>
          <a:ln/>
        </p:spPr>
        <p:txBody>
          <a:bodyPr wrap="square" lIns="0" tIns="0" rIns="0" bIns="0" rtlCol="0" anchor="ctr"/>
          <a:lstStyle/>
          <a:p>
            <a:pPr indent="0" marL="0">
              <a:buNone/>
            </a:pPr>
            <a:r>
              <a:rPr lang="en-US" sz="1200" dirty="0">
                <a:solidFill>
                  <a:srgbClr val="A8B2BB"/>
                </a:solidFill>
                <a:latin typeface="Calibri" pitchFamily="34" charset="0"/>
                <a:ea typeface="Calibri" pitchFamily="34" charset="-122"/>
                <a:cs typeface="Calibri" pitchFamily="34" charset="-120"/>
              </a:rPr>
              <a:t>tests passing</a:t>
            </a:r>
            <a:endParaRPr lang="en-US" sz="1200" dirty="0"/>
          </a:p>
        </p:txBody>
      </p:sp>
      <p:sp>
        <p:nvSpPr>
          <p:cNvPr id="13" name="Text 10"/>
          <p:cNvSpPr txBox="1"/>
          <p:nvPr/>
        </p:nvSpPr>
        <p:spPr>
          <a:xfrm>
            <a:off x="7772400" y="4206240"/>
            <a:ext cx="219456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60</a:t>
            </a:r>
            <a:endParaRPr lang="en-US" sz="3000" dirty="0"/>
          </a:p>
        </p:txBody>
      </p:sp>
      <p:sp>
        <p:nvSpPr>
          <p:cNvPr id="14" name="Text 11"/>
          <p:cNvSpPr txBox="1"/>
          <p:nvPr/>
        </p:nvSpPr>
        <p:spPr>
          <a:xfrm>
            <a:off x="7772400" y="4754880"/>
            <a:ext cx="2194560" cy="320040"/>
          </a:xfrm>
          <a:prstGeom prst="rect">
            <a:avLst/>
          </a:prstGeom>
          <a:noFill/>
          <a:ln/>
        </p:spPr>
        <p:txBody>
          <a:bodyPr wrap="square" lIns="0" tIns="0" rIns="0" bIns="0" rtlCol="0" anchor="ctr"/>
          <a:lstStyle/>
          <a:p>
            <a:pPr indent="0" marL="0">
              <a:buNone/>
            </a:pPr>
            <a:r>
              <a:rPr lang="en-US" sz="1200" dirty="0">
                <a:solidFill>
                  <a:srgbClr val="A8B2BB"/>
                </a:solidFill>
                <a:latin typeface="Calibri" pitchFamily="34" charset="0"/>
                <a:ea typeface="Calibri" pitchFamily="34" charset="-122"/>
                <a:cs typeface="Calibri" pitchFamily="34" charset="-120"/>
              </a:rPr>
              <a:t>fps</a:t>
            </a:r>
            <a:endParaRPr lang="en-US" sz="1200" dirty="0"/>
          </a:p>
        </p:txBody>
      </p:sp>
      <p:sp>
        <p:nvSpPr>
          <p:cNvPr id="15" name="Text 12"/>
          <p:cNvSpPr txBox="1"/>
          <p:nvPr/>
        </p:nvSpPr>
        <p:spPr>
          <a:xfrm>
            <a:off x="640080" y="6035040"/>
            <a:ext cx="8229600" cy="320040"/>
          </a:xfrm>
          <a:prstGeom prst="rect">
            <a:avLst/>
          </a:prstGeom>
          <a:noFill/>
          <a:ln/>
        </p:spPr>
        <p:txBody>
          <a:bodyPr wrap="square" lIns="0" tIns="0" rIns="0" bIns="0" rtlCol="0" anchor="ctr"/>
          <a:lstStyle/>
          <a:p>
            <a:pPr indent="0" marL="0">
              <a:buNone/>
            </a:pPr>
            <a:r>
              <a:rPr lang="en-US" sz="1200" b="1" dirty="0">
                <a:solidFill>
                  <a:srgbClr val="A8B2BB"/>
                </a:solidFill>
                <a:latin typeface="Calibri" pitchFamily="34" charset="0"/>
                <a:ea typeface="Calibri" pitchFamily="34" charset="-122"/>
                <a:cs typeface="Calibri" pitchFamily="34" charset="-120"/>
              </a:rPr>
              <a:t>BEAT THE HAZARD   ·   Kushal Neupane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Beat The Hazard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Beat The Hazard</dc:title>
  <dc:subject>PptxGenJS Presentation</dc:subject>
  <dc:creator>Kushal Neupane</dc:creator>
  <cp:lastModifiedBy>Kushal Neupane</cp:lastModifiedBy>
  <cp:revision>1</cp:revision>
  <dcterms:created xsi:type="dcterms:W3CDTF">2026-09-07T15:58:36Z</dcterms:created>
  <dcterms:modified xsi:type="dcterms:W3CDTF">2026-09-07T15:58:36Z</dcterms:modified>
</cp:coreProperties>
</file>